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oppins" charset="1" panose="00000500000000000000"/>
      <p:regular r:id="rId14"/>
    </p:embeddedFont>
    <p:embeddedFont>
      <p:font typeface="Cooper BT Bold" charset="1" panose="0208080404030B020404"/>
      <p:regular r:id="rId15"/>
    </p:embeddedFont>
    <p:embeddedFont>
      <p:font typeface="Canva Sans Bold" charset="1" panose="020B08030305010401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AFFF7"/>
        </a:solidFill>
      </p:bgPr>
    </p:bg>
    <p:spTree>
      <p:nvGrpSpPr>
        <p:cNvPr id="1" name=""/>
        <p:cNvGrpSpPr/>
        <p:nvPr/>
      </p:nvGrpSpPr>
      <p:grpSpPr>
        <a:xfrm>
          <a:off x="0" y="0"/>
          <a:ext cx="0" cy="0"/>
          <a:chOff x="0" y="0"/>
          <a:chExt cx="0" cy="0"/>
        </a:xfrm>
      </p:grpSpPr>
      <p:sp>
        <p:nvSpPr>
          <p:cNvPr name="Freeform 2" id="2"/>
          <p:cNvSpPr/>
          <p:nvPr/>
        </p:nvSpPr>
        <p:spPr>
          <a:xfrm flipH="false" flipV="false" rot="0">
            <a:off x="0" y="-296244"/>
            <a:ext cx="8719917" cy="10336109"/>
          </a:xfrm>
          <a:custGeom>
            <a:avLst/>
            <a:gdLst/>
            <a:ahLst/>
            <a:cxnLst/>
            <a:rect r="r" b="b" t="t" l="l"/>
            <a:pathLst>
              <a:path h="10336109" w="8719917">
                <a:moveTo>
                  <a:pt x="0" y="0"/>
                </a:moveTo>
                <a:lnTo>
                  <a:pt x="8719917" y="0"/>
                </a:lnTo>
                <a:lnTo>
                  <a:pt x="8719917" y="10336109"/>
                </a:lnTo>
                <a:lnTo>
                  <a:pt x="0" y="1033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8083" y="-49109"/>
            <a:ext cx="8719917" cy="10336109"/>
          </a:xfrm>
          <a:custGeom>
            <a:avLst/>
            <a:gdLst/>
            <a:ahLst/>
            <a:cxnLst/>
            <a:rect r="r" b="b" t="t" l="l"/>
            <a:pathLst>
              <a:path h="10336109" w="8719917">
                <a:moveTo>
                  <a:pt x="8719917" y="0"/>
                </a:moveTo>
                <a:lnTo>
                  <a:pt x="0" y="0"/>
                </a:lnTo>
                <a:lnTo>
                  <a:pt x="0" y="10336109"/>
                </a:lnTo>
                <a:lnTo>
                  <a:pt x="8719917" y="10336109"/>
                </a:lnTo>
                <a:lnTo>
                  <a:pt x="87199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199968" y="2952077"/>
            <a:ext cx="15888063" cy="4382847"/>
            <a:chOff x="0" y="0"/>
            <a:chExt cx="4184510" cy="1154330"/>
          </a:xfrm>
        </p:grpSpPr>
        <p:sp>
          <p:nvSpPr>
            <p:cNvPr name="Freeform 5" id="5"/>
            <p:cNvSpPr/>
            <p:nvPr/>
          </p:nvSpPr>
          <p:spPr>
            <a:xfrm flipH="false" flipV="false" rot="0">
              <a:off x="0" y="0"/>
              <a:ext cx="4184510" cy="1154330"/>
            </a:xfrm>
            <a:custGeom>
              <a:avLst/>
              <a:gdLst/>
              <a:ahLst/>
              <a:cxnLst/>
              <a:rect r="r" b="b" t="t" l="l"/>
              <a:pathLst>
                <a:path h="1154330" w="4184510">
                  <a:moveTo>
                    <a:pt x="243640" y="0"/>
                  </a:moveTo>
                  <a:lnTo>
                    <a:pt x="3940871" y="0"/>
                  </a:lnTo>
                  <a:cubicBezTo>
                    <a:pt x="4005488" y="0"/>
                    <a:pt x="4067459" y="25669"/>
                    <a:pt x="4113150" y="71360"/>
                  </a:cubicBezTo>
                  <a:cubicBezTo>
                    <a:pt x="4158841" y="117052"/>
                    <a:pt x="4184510" y="179022"/>
                    <a:pt x="4184510" y="243640"/>
                  </a:cubicBezTo>
                  <a:lnTo>
                    <a:pt x="4184510" y="910690"/>
                  </a:lnTo>
                  <a:cubicBezTo>
                    <a:pt x="4184510" y="975308"/>
                    <a:pt x="4158841" y="1037278"/>
                    <a:pt x="4113150" y="1082970"/>
                  </a:cubicBezTo>
                  <a:cubicBezTo>
                    <a:pt x="4067459" y="1128661"/>
                    <a:pt x="4005488" y="1154330"/>
                    <a:pt x="3940871" y="1154330"/>
                  </a:cubicBezTo>
                  <a:lnTo>
                    <a:pt x="243640" y="1154330"/>
                  </a:lnTo>
                  <a:cubicBezTo>
                    <a:pt x="179022" y="1154330"/>
                    <a:pt x="117052" y="1128661"/>
                    <a:pt x="71360" y="1082970"/>
                  </a:cubicBezTo>
                  <a:cubicBezTo>
                    <a:pt x="25669" y="1037278"/>
                    <a:pt x="0" y="975308"/>
                    <a:pt x="0" y="910690"/>
                  </a:cubicBezTo>
                  <a:lnTo>
                    <a:pt x="0" y="243640"/>
                  </a:lnTo>
                  <a:cubicBezTo>
                    <a:pt x="0" y="179022"/>
                    <a:pt x="25669" y="117052"/>
                    <a:pt x="71360" y="71360"/>
                  </a:cubicBezTo>
                  <a:cubicBezTo>
                    <a:pt x="117052" y="25669"/>
                    <a:pt x="179022" y="0"/>
                    <a:pt x="243640" y="0"/>
                  </a:cubicBezTo>
                  <a:close/>
                </a:path>
              </a:pathLst>
            </a:custGeom>
            <a:solidFill>
              <a:srgbClr val="EAFFF7"/>
            </a:solidFill>
            <a:ln w="38100" cap="rnd">
              <a:solidFill>
                <a:srgbClr val="1E8661"/>
              </a:solidFill>
              <a:prstDash val="solid"/>
              <a:round/>
            </a:ln>
          </p:spPr>
        </p:sp>
        <p:sp>
          <p:nvSpPr>
            <p:cNvPr name="TextBox 6" id="6"/>
            <p:cNvSpPr txBox="true"/>
            <p:nvPr/>
          </p:nvSpPr>
          <p:spPr>
            <a:xfrm>
              <a:off x="0" y="-38100"/>
              <a:ext cx="4184510" cy="119243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2228828" y="3600450"/>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9663"/>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2973072" y="3600450"/>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9663"/>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771878" y="3600450"/>
            <a:ext cx="10744245" cy="3086100"/>
            <a:chOff x="0" y="0"/>
            <a:chExt cx="2829760" cy="812800"/>
          </a:xfrm>
        </p:grpSpPr>
        <p:sp>
          <p:nvSpPr>
            <p:cNvPr name="Freeform 14" id="14"/>
            <p:cNvSpPr/>
            <p:nvPr/>
          </p:nvSpPr>
          <p:spPr>
            <a:xfrm flipH="false" flipV="false" rot="0">
              <a:off x="0" y="0"/>
              <a:ext cx="2829760" cy="812800"/>
            </a:xfrm>
            <a:custGeom>
              <a:avLst/>
              <a:gdLst/>
              <a:ahLst/>
              <a:cxnLst/>
              <a:rect r="r" b="b" t="t" l="l"/>
              <a:pathLst>
                <a:path h="812800" w="2829760">
                  <a:moveTo>
                    <a:pt x="360282" y="0"/>
                  </a:moveTo>
                  <a:lnTo>
                    <a:pt x="2469478" y="0"/>
                  </a:lnTo>
                  <a:cubicBezTo>
                    <a:pt x="2565031" y="0"/>
                    <a:pt x="2656670" y="37958"/>
                    <a:pt x="2724236" y="105524"/>
                  </a:cubicBezTo>
                  <a:cubicBezTo>
                    <a:pt x="2791802" y="173090"/>
                    <a:pt x="2829760" y="264729"/>
                    <a:pt x="2829760" y="360282"/>
                  </a:cubicBezTo>
                  <a:lnTo>
                    <a:pt x="2829760" y="452518"/>
                  </a:lnTo>
                  <a:cubicBezTo>
                    <a:pt x="2829760" y="548071"/>
                    <a:pt x="2791802" y="639710"/>
                    <a:pt x="2724236" y="707276"/>
                  </a:cubicBezTo>
                  <a:cubicBezTo>
                    <a:pt x="2656670" y="774842"/>
                    <a:pt x="2565031" y="812800"/>
                    <a:pt x="2469478" y="812800"/>
                  </a:cubicBezTo>
                  <a:lnTo>
                    <a:pt x="360282" y="812800"/>
                  </a:lnTo>
                  <a:cubicBezTo>
                    <a:pt x="264729" y="812800"/>
                    <a:pt x="173090" y="774842"/>
                    <a:pt x="105524" y="707276"/>
                  </a:cubicBezTo>
                  <a:cubicBezTo>
                    <a:pt x="37958" y="639710"/>
                    <a:pt x="0" y="548071"/>
                    <a:pt x="0" y="452518"/>
                  </a:cubicBezTo>
                  <a:lnTo>
                    <a:pt x="0" y="360282"/>
                  </a:lnTo>
                  <a:cubicBezTo>
                    <a:pt x="0" y="264729"/>
                    <a:pt x="37958" y="173090"/>
                    <a:pt x="105524" y="105524"/>
                  </a:cubicBezTo>
                  <a:cubicBezTo>
                    <a:pt x="173090" y="37958"/>
                    <a:pt x="264729" y="0"/>
                    <a:pt x="360282" y="0"/>
                  </a:cubicBezTo>
                  <a:close/>
                </a:path>
              </a:pathLst>
            </a:custGeom>
            <a:solidFill>
              <a:srgbClr val="1E8661"/>
            </a:solidFill>
          </p:spPr>
        </p:sp>
        <p:sp>
          <p:nvSpPr>
            <p:cNvPr name="TextBox 15" id="15"/>
            <p:cNvSpPr txBox="true"/>
            <p:nvPr/>
          </p:nvSpPr>
          <p:spPr>
            <a:xfrm>
              <a:off x="0" y="-38100"/>
              <a:ext cx="2829760" cy="8509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2661668" y="4347421"/>
            <a:ext cx="1523411" cy="1543050"/>
          </a:xfrm>
          <a:custGeom>
            <a:avLst/>
            <a:gdLst/>
            <a:ahLst/>
            <a:cxnLst/>
            <a:rect r="r" b="b" t="t" l="l"/>
            <a:pathLst>
              <a:path h="1543050" w="1523411">
                <a:moveTo>
                  <a:pt x="0" y="0"/>
                </a:moveTo>
                <a:lnTo>
                  <a:pt x="1523412" y="0"/>
                </a:lnTo>
                <a:lnTo>
                  <a:pt x="1523412" y="1543050"/>
                </a:lnTo>
                <a:lnTo>
                  <a:pt x="0" y="154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3754417" y="4371975"/>
            <a:ext cx="1523411" cy="1543050"/>
          </a:xfrm>
          <a:custGeom>
            <a:avLst/>
            <a:gdLst/>
            <a:ahLst/>
            <a:cxnLst/>
            <a:rect r="r" b="b" t="t" l="l"/>
            <a:pathLst>
              <a:path h="1543050" w="1523411">
                <a:moveTo>
                  <a:pt x="0" y="0"/>
                </a:moveTo>
                <a:lnTo>
                  <a:pt x="1523411" y="0"/>
                </a:lnTo>
                <a:lnTo>
                  <a:pt x="1523411" y="1543050"/>
                </a:lnTo>
                <a:lnTo>
                  <a:pt x="0" y="154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6304788" y="6985165"/>
            <a:ext cx="5678424" cy="718971"/>
            <a:chOff x="0" y="0"/>
            <a:chExt cx="1495552" cy="189359"/>
          </a:xfrm>
        </p:grpSpPr>
        <p:sp>
          <p:nvSpPr>
            <p:cNvPr name="Freeform 19" id="19"/>
            <p:cNvSpPr/>
            <p:nvPr/>
          </p:nvSpPr>
          <p:spPr>
            <a:xfrm flipH="false" flipV="false" rot="0">
              <a:off x="0" y="0"/>
              <a:ext cx="1495552" cy="189359"/>
            </a:xfrm>
            <a:custGeom>
              <a:avLst/>
              <a:gdLst/>
              <a:ahLst/>
              <a:cxnLst/>
              <a:rect r="r" b="b" t="t" l="l"/>
              <a:pathLst>
                <a:path h="189359" w="1495552">
                  <a:moveTo>
                    <a:pt x="94679" y="0"/>
                  </a:moveTo>
                  <a:lnTo>
                    <a:pt x="1400873" y="0"/>
                  </a:lnTo>
                  <a:cubicBezTo>
                    <a:pt x="1425983" y="0"/>
                    <a:pt x="1450065" y="9975"/>
                    <a:pt x="1467821" y="27731"/>
                  </a:cubicBezTo>
                  <a:cubicBezTo>
                    <a:pt x="1485577" y="45487"/>
                    <a:pt x="1495552" y="69569"/>
                    <a:pt x="1495552" y="94679"/>
                  </a:cubicBezTo>
                  <a:lnTo>
                    <a:pt x="1495552" y="94679"/>
                  </a:lnTo>
                  <a:cubicBezTo>
                    <a:pt x="1495552" y="119790"/>
                    <a:pt x="1485577" y="143872"/>
                    <a:pt x="1467821" y="161628"/>
                  </a:cubicBezTo>
                  <a:cubicBezTo>
                    <a:pt x="1450065" y="179383"/>
                    <a:pt x="1425983" y="189359"/>
                    <a:pt x="1400873" y="189359"/>
                  </a:cubicBezTo>
                  <a:lnTo>
                    <a:pt x="94679" y="189359"/>
                  </a:lnTo>
                  <a:cubicBezTo>
                    <a:pt x="69569" y="189359"/>
                    <a:pt x="45487" y="179383"/>
                    <a:pt x="27731" y="161628"/>
                  </a:cubicBezTo>
                  <a:cubicBezTo>
                    <a:pt x="9975" y="143872"/>
                    <a:pt x="0" y="119790"/>
                    <a:pt x="0" y="94679"/>
                  </a:cubicBezTo>
                  <a:lnTo>
                    <a:pt x="0" y="94679"/>
                  </a:lnTo>
                  <a:cubicBezTo>
                    <a:pt x="0" y="69569"/>
                    <a:pt x="9975" y="45487"/>
                    <a:pt x="27731" y="27731"/>
                  </a:cubicBezTo>
                  <a:cubicBezTo>
                    <a:pt x="45487" y="9975"/>
                    <a:pt x="69569" y="0"/>
                    <a:pt x="94679" y="0"/>
                  </a:cubicBezTo>
                  <a:close/>
                </a:path>
              </a:pathLst>
            </a:custGeom>
            <a:solidFill>
              <a:srgbClr val="1E8661"/>
            </a:solidFill>
          </p:spPr>
        </p:sp>
        <p:sp>
          <p:nvSpPr>
            <p:cNvPr name="TextBox 20" id="20"/>
            <p:cNvSpPr txBox="true"/>
            <p:nvPr/>
          </p:nvSpPr>
          <p:spPr>
            <a:xfrm>
              <a:off x="0" y="-66675"/>
              <a:ext cx="1495552" cy="256034"/>
            </a:xfrm>
            <a:prstGeom prst="rect">
              <a:avLst/>
            </a:prstGeom>
          </p:spPr>
          <p:txBody>
            <a:bodyPr anchor="ctr" rtlCol="false" tIns="50800" lIns="50800" bIns="50800" rIns="50800"/>
            <a:lstStyle/>
            <a:p>
              <a:pPr algn="ctr">
                <a:lnSpc>
                  <a:spcPts val="3639"/>
                </a:lnSpc>
              </a:pPr>
              <a:r>
                <a:rPr lang="en-US" sz="2599">
                  <a:solidFill>
                    <a:srgbClr val="FFFFFF"/>
                  </a:solidFill>
                  <a:latin typeface="Poppins"/>
                  <a:ea typeface="Poppins"/>
                  <a:cs typeface="Poppins"/>
                  <a:sym typeface="Poppins"/>
                </a:rPr>
                <a:t>Eclectics International Limited</a:t>
              </a:r>
            </a:p>
          </p:txBody>
        </p:sp>
      </p:grpSp>
      <p:sp>
        <p:nvSpPr>
          <p:cNvPr name="TextBox 21" id="21"/>
          <p:cNvSpPr txBox="true"/>
          <p:nvPr/>
        </p:nvSpPr>
        <p:spPr>
          <a:xfrm rot="0">
            <a:off x="3771878" y="4435240"/>
            <a:ext cx="10374374" cy="1581150"/>
          </a:xfrm>
          <a:prstGeom prst="rect">
            <a:avLst/>
          </a:prstGeom>
        </p:spPr>
        <p:txBody>
          <a:bodyPr anchor="t" rtlCol="false" tIns="0" lIns="0" bIns="0" rIns="0">
            <a:spAutoFit/>
          </a:bodyPr>
          <a:lstStyle/>
          <a:p>
            <a:pPr algn="ctr">
              <a:lnSpc>
                <a:spcPts val="4200"/>
              </a:lnSpc>
            </a:pPr>
            <a:r>
              <a:rPr lang="en-US" b="true" sz="3000">
                <a:solidFill>
                  <a:srgbClr val="FFFFFF"/>
                </a:solidFill>
                <a:latin typeface="Cooper BT Bold"/>
                <a:ea typeface="Cooper BT Bold"/>
                <a:cs typeface="Cooper BT Bold"/>
                <a:sym typeface="Cooper BT Bold"/>
              </a:rPr>
              <a:t>ESCROWX - </a:t>
            </a:r>
            <a:r>
              <a:rPr lang="en-US" b="true" sz="3000">
                <a:solidFill>
                  <a:srgbClr val="FFFFFF"/>
                </a:solidFill>
                <a:latin typeface="Cooper BT Bold"/>
                <a:ea typeface="Cooper BT Bold"/>
                <a:cs typeface="Cooper BT Bold"/>
                <a:sym typeface="Cooper BT Bold"/>
              </a:rPr>
              <a:t>A CONDITIONAL PAYMENT PLATFORM FOR KENYA'S DIGITAL COMMERCE ECOSYSTEM</a:t>
            </a:r>
          </a:p>
          <a:p>
            <a:pPr algn="ctr">
              <a:lnSpc>
                <a:spcPts val="4200"/>
              </a:lnSpc>
              <a:spcBef>
                <a:spcPct val="0"/>
              </a:spcBef>
            </a:pPr>
          </a:p>
        </p:txBody>
      </p:sp>
      <p:grpSp>
        <p:nvGrpSpPr>
          <p:cNvPr name="Group 22" id="22"/>
          <p:cNvGrpSpPr/>
          <p:nvPr/>
        </p:nvGrpSpPr>
        <p:grpSpPr>
          <a:xfrm rot="0">
            <a:off x="7027351" y="2566404"/>
            <a:ext cx="3385133" cy="771345"/>
            <a:chOff x="0" y="0"/>
            <a:chExt cx="891558" cy="203153"/>
          </a:xfrm>
        </p:grpSpPr>
        <p:sp>
          <p:nvSpPr>
            <p:cNvPr name="Freeform 23" id="23"/>
            <p:cNvSpPr/>
            <p:nvPr/>
          </p:nvSpPr>
          <p:spPr>
            <a:xfrm flipH="false" flipV="false" rot="0">
              <a:off x="0" y="0"/>
              <a:ext cx="891558" cy="203153"/>
            </a:xfrm>
            <a:custGeom>
              <a:avLst/>
              <a:gdLst/>
              <a:ahLst/>
              <a:cxnLst/>
              <a:rect r="r" b="b" t="t" l="l"/>
              <a:pathLst>
                <a:path h="203153" w="891558">
                  <a:moveTo>
                    <a:pt x="101576" y="0"/>
                  </a:moveTo>
                  <a:lnTo>
                    <a:pt x="789981" y="0"/>
                  </a:lnTo>
                  <a:cubicBezTo>
                    <a:pt x="816921" y="0"/>
                    <a:pt x="842757" y="10702"/>
                    <a:pt x="861807" y="29751"/>
                  </a:cubicBezTo>
                  <a:cubicBezTo>
                    <a:pt x="880856" y="48800"/>
                    <a:pt x="891558" y="74637"/>
                    <a:pt x="891558" y="101576"/>
                  </a:cubicBezTo>
                  <a:lnTo>
                    <a:pt x="891558" y="101576"/>
                  </a:lnTo>
                  <a:cubicBezTo>
                    <a:pt x="891558" y="157675"/>
                    <a:pt x="846081" y="203153"/>
                    <a:pt x="789981" y="203153"/>
                  </a:cubicBezTo>
                  <a:lnTo>
                    <a:pt x="101576" y="203153"/>
                  </a:lnTo>
                  <a:cubicBezTo>
                    <a:pt x="74637" y="203153"/>
                    <a:pt x="48800" y="192451"/>
                    <a:pt x="29751" y="173402"/>
                  </a:cubicBezTo>
                  <a:cubicBezTo>
                    <a:pt x="10702" y="154352"/>
                    <a:pt x="0" y="128516"/>
                    <a:pt x="0" y="101576"/>
                  </a:cubicBezTo>
                  <a:lnTo>
                    <a:pt x="0" y="101576"/>
                  </a:lnTo>
                  <a:cubicBezTo>
                    <a:pt x="0" y="74637"/>
                    <a:pt x="10702" y="48800"/>
                    <a:pt x="29751" y="29751"/>
                  </a:cubicBezTo>
                  <a:cubicBezTo>
                    <a:pt x="48800" y="10702"/>
                    <a:pt x="74637" y="0"/>
                    <a:pt x="101576" y="0"/>
                  </a:cubicBezTo>
                  <a:close/>
                </a:path>
              </a:pathLst>
            </a:custGeom>
            <a:solidFill>
              <a:srgbClr val="1E8661"/>
            </a:solidFill>
          </p:spPr>
        </p:sp>
        <p:sp>
          <p:nvSpPr>
            <p:cNvPr name="TextBox 24" id="24"/>
            <p:cNvSpPr txBox="true"/>
            <p:nvPr/>
          </p:nvSpPr>
          <p:spPr>
            <a:xfrm>
              <a:off x="0" y="-85725"/>
              <a:ext cx="891558" cy="288878"/>
            </a:xfrm>
            <a:prstGeom prst="rect">
              <a:avLst/>
            </a:prstGeom>
          </p:spPr>
          <p:txBody>
            <a:bodyPr anchor="ctr" rtlCol="false" tIns="50800" lIns="50800" bIns="50800" rIns="50800"/>
            <a:lstStyle/>
            <a:p>
              <a:pPr algn="ctr">
                <a:lnSpc>
                  <a:spcPts val="3919"/>
                </a:lnSpc>
              </a:pPr>
              <a:r>
                <a:rPr lang="en-US" sz="2799">
                  <a:solidFill>
                    <a:srgbClr val="FFFFFF"/>
                  </a:solidFill>
                  <a:latin typeface="Poppins"/>
                  <a:ea typeface="Poppins"/>
                  <a:cs typeface="Poppins"/>
                  <a:sym typeface="Poppins"/>
                </a:rPr>
                <a:t>Mark Kipchumba</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AFFF7"/>
        </a:solidFill>
      </p:bgPr>
    </p:bg>
    <p:spTree>
      <p:nvGrpSpPr>
        <p:cNvPr id="1" name=""/>
        <p:cNvGrpSpPr/>
        <p:nvPr/>
      </p:nvGrpSpPr>
      <p:grpSpPr>
        <a:xfrm>
          <a:off x="0" y="0"/>
          <a:ext cx="0" cy="0"/>
          <a:chOff x="0" y="0"/>
          <a:chExt cx="0" cy="0"/>
        </a:xfrm>
      </p:grpSpPr>
      <p:sp>
        <p:nvSpPr>
          <p:cNvPr name="Freeform 2" id="2"/>
          <p:cNvSpPr/>
          <p:nvPr/>
        </p:nvSpPr>
        <p:spPr>
          <a:xfrm flipH="false" flipV="false" rot="0">
            <a:off x="0" y="-49109"/>
            <a:ext cx="8719917" cy="10336109"/>
          </a:xfrm>
          <a:custGeom>
            <a:avLst/>
            <a:gdLst/>
            <a:ahLst/>
            <a:cxnLst/>
            <a:rect r="r" b="b" t="t" l="l"/>
            <a:pathLst>
              <a:path h="10336109" w="8719917">
                <a:moveTo>
                  <a:pt x="0" y="0"/>
                </a:moveTo>
                <a:lnTo>
                  <a:pt x="8719917" y="0"/>
                </a:lnTo>
                <a:lnTo>
                  <a:pt x="8719917" y="10336109"/>
                </a:lnTo>
                <a:lnTo>
                  <a:pt x="0" y="1033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8083" y="-49109"/>
            <a:ext cx="8719917" cy="10336109"/>
          </a:xfrm>
          <a:custGeom>
            <a:avLst/>
            <a:gdLst/>
            <a:ahLst/>
            <a:cxnLst/>
            <a:rect r="r" b="b" t="t" l="l"/>
            <a:pathLst>
              <a:path h="10336109" w="8719917">
                <a:moveTo>
                  <a:pt x="8719917" y="0"/>
                </a:moveTo>
                <a:lnTo>
                  <a:pt x="0" y="0"/>
                </a:lnTo>
                <a:lnTo>
                  <a:pt x="0" y="10336109"/>
                </a:lnTo>
                <a:lnTo>
                  <a:pt x="8719917" y="10336109"/>
                </a:lnTo>
                <a:lnTo>
                  <a:pt x="87199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028700"/>
            <a:ext cx="16230600" cy="8229600"/>
            <a:chOff x="0" y="0"/>
            <a:chExt cx="4274726" cy="2167467"/>
          </a:xfrm>
        </p:grpSpPr>
        <p:sp>
          <p:nvSpPr>
            <p:cNvPr name="Freeform 5" id="5"/>
            <p:cNvSpPr/>
            <p:nvPr/>
          </p:nvSpPr>
          <p:spPr>
            <a:xfrm flipH="false" flipV="false" rot="0">
              <a:off x="0" y="0"/>
              <a:ext cx="4274726" cy="2167467"/>
            </a:xfrm>
            <a:custGeom>
              <a:avLst/>
              <a:gdLst/>
              <a:ahLst/>
              <a:cxnLst/>
              <a:rect r="r" b="b" t="t" l="l"/>
              <a:pathLst>
                <a:path h="2167467" w="4274726">
                  <a:moveTo>
                    <a:pt x="47700" y="0"/>
                  </a:moveTo>
                  <a:lnTo>
                    <a:pt x="4227026" y="0"/>
                  </a:lnTo>
                  <a:cubicBezTo>
                    <a:pt x="4239677" y="0"/>
                    <a:pt x="4251809" y="5025"/>
                    <a:pt x="4260755" y="13971"/>
                  </a:cubicBezTo>
                  <a:cubicBezTo>
                    <a:pt x="4269700" y="22916"/>
                    <a:pt x="4274726" y="35049"/>
                    <a:pt x="4274726" y="47700"/>
                  </a:cubicBezTo>
                  <a:lnTo>
                    <a:pt x="4274726" y="2119767"/>
                  </a:lnTo>
                  <a:cubicBezTo>
                    <a:pt x="4274726" y="2132418"/>
                    <a:pt x="4269700" y="2144550"/>
                    <a:pt x="4260755" y="2153496"/>
                  </a:cubicBezTo>
                  <a:cubicBezTo>
                    <a:pt x="4251809" y="2162441"/>
                    <a:pt x="4239677" y="2167467"/>
                    <a:pt x="4227026" y="2167467"/>
                  </a:cubicBezTo>
                  <a:lnTo>
                    <a:pt x="47700" y="2167467"/>
                  </a:lnTo>
                  <a:cubicBezTo>
                    <a:pt x="35049" y="2167467"/>
                    <a:pt x="22916" y="2162441"/>
                    <a:pt x="13971" y="2153496"/>
                  </a:cubicBezTo>
                  <a:cubicBezTo>
                    <a:pt x="5025" y="2144550"/>
                    <a:pt x="0" y="2132418"/>
                    <a:pt x="0" y="2119767"/>
                  </a:cubicBezTo>
                  <a:lnTo>
                    <a:pt x="0" y="47700"/>
                  </a:lnTo>
                  <a:cubicBezTo>
                    <a:pt x="0" y="35049"/>
                    <a:pt x="5025" y="22916"/>
                    <a:pt x="13971" y="13971"/>
                  </a:cubicBezTo>
                  <a:cubicBezTo>
                    <a:pt x="22916" y="5025"/>
                    <a:pt x="35049" y="0"/>
                    <a:pt x="47700" y="0"/>
                  </a:cubicBezTo>
                  <a:close/>
                </a:path>
              </a:pathLst>
            </a:custGeom>
            <a:solidFill>
              <a:srgbClr val="EAFFF7"/>
            </a:solidFill>
            <a:ln w="38100" cap="rnd">
              <a:solidFill>
                <a:srgbClr val="1E8661"/>
              </a:solidFill>
              <a:prstDash val="solid"/>
              <a:round/>
            </a:ln>
          </p:spPr>
        </p:sp>
        <p:sp>
          <p:nvSpPr>
            <p:cNvPr name="TextBox 6" id="6"/>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0730793" y="1028700"/>
            <a:ext cx="6528507" cy="8229600"/>
            <a:chOff x="0" y="0"/>
            <a:chExt cx="1719442" cy="2167467"/>
          </a:xfrm>
        </p:grpSpPr>
        <p:sp>
          <p:nvSpPr>
            <p:cNvPr name="Freeform 8" id="8"/>
            <p:cNvSpPr/>
            <p:nvPr/>
          </p:nvSpPr>
          <p:spPr>
            <a:xfrm flipH="false" flipV="false" rot="0">
              <a:off x="0" y="0"/>
              <a:ext cx="1719442" cy="2167467"/>
            </a:xfrm>
            <a:custGeom>
              <a:avLst/>
              <a:gdLst/>
              <a:ahLst/>
              <a:cxnLst/>
              <a:rect r="r" b="b" t="t" l="l"/>
              <a:pathLst>
                <a:path h="2167467" w="1719442">
                  <a:moveTo>
                    <a:pt x="118586" y="0"/>
                  </a:moveTo>
                  <a:lnTo>
                    <a:pt x="1600856" y="0"/>
                  </a:lnTo>
                  <a:cubicBezTo>
                    <a:pt x="1666349" y="0"/>
                    <a:pt x="1719442" y="53093"/>
                    <a:pt x="1719442" y="118586"/>
                  </a:cubicBezTo>
                  <a:lnTo>
                    <a:pt x="1719442" y="2048880"/>
                  </a:lnTo>
                  <a:cubicBezTo>
                    <a:pt x="1719442" y="2114374"/>
                    <a:pt x="1666349" y="2167467"/>
                    <a:pt x="1600856" y="2167467"/>
                  </a:cubicBezTo>
                  <a:lnTo>
                    <a:pt x="118586" y="2167467"/>
                  </a:lnTo>
                  <a:cubicBezTo>
                    <a:pt x="53093" y="2167467"/>
                    <a:pt x="0" y="2114374"/>
                    <a:pt x="0" y="2048880"/>
                  </a:cubicBezTo>
                  <a:lnTo>
                    <a:pt x="0" y="118586"/>
                  </a:lnTo>
                  <a:cubicBezTo>
                    <a:pt x="0" y="53093"/>
                    <a:pt x="53093" y="0"/>
                    <a:pt x="118586" y="0"/>
                  </a:cubicBezTo>
                  <a:close/>
                </a:path>
              </a:pathLst>
            </a:custGeom>
            <a:solidFill>
              <a:srgbClr val="EAFFF7"/>
            </a:solidFill>
            <a:ln w="38100" cap="rnd">
              <a:solidFill>
                <a:srgbClr val="1E8661"/>
              </a:solidFill>
              <a:prstDash val="solid"/>
              <a:round/>
            </a:ln>
          </p:spPr>
        </p:sp>
        <p:sp>
          <p:nvSpPr>
            <p:cNvPr name="TextBox 9" id="9"/>
            <p:cNvSpPr txBox="true"/>
            <p:nvPr/>
          </p:nvSpPr>
          <p:spPr>
            <a:xfrm>
              <a:off x="0" y="-38100"/>
              <a:ext cx="1719442" cy="2205567"/>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6769423" y="1028700"/>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28700" y="8762108"/>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786196" y="1954581"/>
            <a:ext cx="6542532" cy="2987160"/>
          </a:xfrm>
          <a:prstGeom prst="rect">
            <a:avLst/>
          </a:prstGeom>
        </p:spPr>
        <p:txBody>
          <a:bodyPr anchor="t" rtlCol="false" tIns="0" lIns="0" bIns="0" rIns="0">
            <a:spAutoFit/>
          </a:bodyPr>
          <a:lstStyle/>
          <a:p>
            <a:pPr algn="l">
              <a:lnSpc>
                <a:spcPts val="7617"/>
              </a:lnSpc>
            </a:pPr>
            <a:r>
              <a:rPr lang="en-US" sz="7541" spc="-452" b="true">
                <a:solidFill>
                  <a:srgbClr val="1E8661"/>
                </a:solidFill>
                <a:latin typeface="Cooper BT Bold"/>
                <a:ea typeface="Cooper BT Bold"/>
                <a:cs typeface="Cooper BT Bold"/>
                <a:sym typeface="Cooper BT Bold"/>
              </a:rPr>
              <a:t>Problem Statement</a:t>
            </a:r>
          </a:p>
          <a:p>
            <a:pPr algn="l">
              <a:lnSpc>
                <a:spcPts val="8021"/>
              </a:lnSpc>
            </a:pPr>
          </a:p>
        </p:txBody>
      </p:sp>
      <p:sp>
        <p:nvSpPr>
          <p:cNvPr name="TextBox 13" id="13"/>
          <p:cNvSpPr txBox="true"/>
          <p:nvPr/>
        </p:nvSpPr>
        <p:spPr>
          <a:xfrm rot="0">
            <a:off x="1518577" y="4483151"/>
            <a:ext cx="8317243" cy="4007485"/>
          </a:xfrm>
          <a:prstGeom prst="rect">
            <a:avLst/>
          </a:prstGeom>
        </p:spPr>
        <p:txBody>
          <a:bodyPr anchor="t" rtlCol="false" tIns="0" lIns="0" bIns="0" rIns="0">
            <a:spAutoFit/>
          </a:bodyPr>
          <a:lstStyle/>
          <a:p>
            <a:pPr algn="just">
              <a:lnSpc>
                <a:spcPts val="3219"/>
              </a:lnSpc>
              <a:spcBef>
                <a:spcPct val="0"/>
              </a:spcBef>
            </a:pPr>
            <a:r>
              <a:rPr lang="en-US" b="true" sz="2299">
                <a:solidFill>
                  <a:srgbClr val="1E8661"/>
                </a:solidFill>
                <a:latin typeface="Canva Sans Bold"/>
                <a:ea typeface="Canva Sans Bold"/>
                <a:cs typeface="Canva Sans Bold"/>
                <a:sym typeface="Canva Sans Bold"/>
              </a:rPr>
              <a:t>Milli</a:t>
            </a:r>
            <a:r>
              <a:rPr lang="en-US" b="true" sz="2299">
                <a:solidFill>
                  <a:srgbClr val="1E8661"/>
                </a:solidFill>
                <a:latin typeface="Canva Sans Bold"/>
                <a:ea typeface="Canva Sans Bold"/>
                <a:cs typeface="Canva Sans Bold"/>
                <a:sym typeface="Canva Sans Bold"/>
              </a:rPr>
              <a:t>ons of transactions happen daily on WhatsApp, Instagram, TikTok, and Jiji yet behind every one of those transactions is a buyer sending money to a stranger, with no contract, no guarantee, and no recourse if things go wrong. Sellers disappear after payment. Goods arrive damaged or not at all. Services are paid for and never delivered. When something goes wrong, there is no system to turn to no dispute process, no refund mechanism, and no authority to hold either party accountable.</a:t>
            </a:r>
          </a:p>
          <a:p>
            <a:pPr algn="just">
              <a:lnSpc>
                <a:spcPts val="3359"/>
              </a:lnSpc>
              <a:spcBef>
                <a:spcPct val="0"/>
              </a:spcBef>
            </a:pPr>
          </a:p>
        </p:txBody>
      </p:sp>
      <p:sp>
        <p:nvSpPr>
          <p:cNvPr name="Freeform 14" id="14"/>
          <p:cNvSpPr/>
          <p:nvPr/>
        </p:nvSpPr>
        <p:spPr>
          <a:xfrm flipH="false" flipV="false" rot="0">
            <a:off x="11002666" y="1821231"/>
            <a:ext cx="5850752" cy="6284987"/>
          </a:xfrm>
          <a:custGeom>
            <a:avLst/>
            <a:gdLst/>
            <a:ahLst/>
            <a:cxnLst/>
            <a:rect r="r" b="b" t="t" l="l"/>
            <a:pathLst>
              <a:path h="6284987" w="5850752">
                <a:moveTo>
                  <a:pt x="0" y="0"/>
                </a:moveTo>
                <a:lnTo>
                  <a:pt x="5850751" y="0"/>
                </a:lnTo>
                <a:lnTo>
                  <a:pt x="5850751" y="6284987"/>
                </a:lnTo>
                <a:lnTo>
                  <a:pt x="0" y="62849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AFFF7"/>
        </a:solidFill>
      </p:bgPr>
    </p:bg>
    <p:spTree>
      <p:nvGrpSpPr>
        <p:cNvPr id="1" name=""/>
        <p:cNvGrpSpPr/>
        <p:nvPr/>
      </p:nvGrpSpPr>
      <p:grpSpPr>
        <a:xfrm>
          <a:off x="0" y="0"/>
          <a:ext cx="0" cy="0"/>
          <a:chOff x="0" y="0"/>
          <a:chExt cx="0" cy="0"/>
        </a:xfrm>
      </p:grpSpPr>
      <p:sp>
        <p:nvSpPr>
          <p:cNvPr name="Freeform 2" id="2"/>
          <p:cNvSpPr/>
          <p:nvPr/>
        </p:nvSpPr>
        <p:spPr>
          <a:xfrm flipH="false" flipV="false" rot="0">
            <a:off x="0" y="-49109"/>
            <a:ext cx="8719917" cy="10336109"/>
          </a:xfrm>
          <a:custGeom>
            <a:avLst/>
            <a:gdLst/>
            <a:ahLst/>
            <a:cxnLst/>
            <a:rect r="r" b="b" t="t" l="l"/>
            <a:pathLst>
              <a:path h="10336109" w="8719917">
                <a:moveTo>
                  <a:pt x="0" y="0"/>
                </a:moveTo>
                <a:lnTo>
                  <a:pt x="8719917" y="0"/>
                </a:lnTo>
                <a:lnTo>
                  <a:pt x="8719917" y="10336109"/>
                </a:lnTo>
                <a:lnTo>
                  <a:pt x="0" y="1033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8083" y="-49109"/>
            <a:ext cx="8719917" cy="10336109"/>
          </a:xfrm>
          <a:custGeom>
            <a:avLst/>
            <a:gdLst/>
            <a:ahLst/>
            <a:cxnLst/>
            <a:rect r="r" b="b" t="t" l="l"/>
            <a:pathLst>
              <a:path h="10336109" w="8719917">
                <a:moveTo>
                  <a:pt x="8719917" y="0"/>
                </a:moveTo>
                <a:lnTo>
                  <a:pt x="0" y="0"/>
                </a:lnTo>
                <a:lnTo>
                  <a:pt x="0" y="10336109"/>
                </a:lnTo>
                <a:lnTo>
                  <a:pt x="8719917" y="10336109"/>
                </a:lnTo>
                <a:lnTo>
                  <a:pt x="87199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028700"/>
            <a:ext cx="16230600" cy="8229600"/>
            <a:chOff x="0" y="0"/>
            <a:chExt cx="4274726" cy="2167467"/>
          </a:xfrm>
        </p:grpSpPr>
        <p:sp>
          <p:nvSpPr>
            <p:cNvPr name="Freeform 5" id="5"/>
            <p:cNvSpPr/>
            <p:nvPr/>
          </p:nvSpPr>
          <p:spPr>
            <a:xfrm flipH="false" flipV="false" rot="0">
              <a:off x="0" y="0"/>
              <a:ext cx="4274726" cy="2167467"/>
            </a:xfrm>
            <a:custGeom>
              <a:avLst/>
              <a:gdLst/>
              <a:ahLst/>
              <a:cxnLst/>
              <a:rect r="r" b="b" t="t" l="l"/>
              <a:pathLst>
                <a:path h="2167467" w="4274726">
                  <a:moveTo>
                    <a:pt x="47700" y="0"/>
                  </a:moveTo>
                  <a:lnTo>
                    <a:pt x="4227026" y="0"/>
                  </a:lnTo>
                  <a:cubicBezTo>
                    <a:pt x="4239677" y="0"/>
                    <a:pt x="4251809" y="5025"/>
                    <a:pt x="4260755" y="13971"/>
                  </a:cubicBezTo>
                  <a:cubicBezTo>
                    <a:pt x="4269700" y="22916"/>
                    <a:pt x="4274726" y="35049"/>
                    <a:pt x="4274726" y="47700"/>
                  </a:cubicBezTo>
                  <a:lnTo>
                    <a:pt x="4274726" y="2119767"/>
                  </a:lnTo>
                  <a:cubicBezTo>
                    <a:pt x="4274726" y="2132418"/>
                    <a:pt x="4269700" y="2144550"/>
                    <a:pt x="4260755" y="2153496"/>
                  </a:cubicBezTo>
                  <a:cubicBezTo>
                    <a:pt x="4251809" y="2162441"/>
                    <a:pt x="4239677" y="2167467"/>
                    <a:pt x="4227026" y="2167467"/>
                  </a:cubicBezTo>
                  <a:lnTo>
                    <a:pt x="47700" y="2167467"/>
                  </a:lnTo>
                  <a:cubicBezTo>
                    <a:pt x="35049" y="2167467"/>
                    <a:pt x="22916" y="2162441"/>
                    <a:pt x="13971" y="2153496"/>
                  </a:cubicBezTo>
                  <a:cubicBezTo>
                    <a:pt x="5025" y="2144550"/>
                    <a:pt x="0" y="2132418"/>
                    <a:pt x="0" y="2119767"/>
                  </a:cubicBezTo>
                  <a:lnTo>
                    <a:pt x="0" y="47700"/>
                  </a:lnTo>
                  <a:cubicBezTo>
                    <a:pt x="0" y="35049"/>
                    <a:pt x="5025" y="22916"/>
                    <a:pt x="13971" y="13971"/>
                  </a:cubicBezTo>
                  <a:cubicBezTo>
                    <a:pt x="22916" y="5025"/>
                    <a:pt x="35049" y="0"/>
                    <a:pt x="47700" y="0"/>
                  </a:cubicBezTo>
                  <a:close/>
                </a:path>
              </a:pathLst>
            </a:custGeom>
            <a:solidFill>
              <a:srgbClr val="EAFFF7"/>
            </a:solidFill>
            <a:ln w="38100" cap="rnd">
              <a:solidFill>
                <a:srgbClr val="1E8661"/>
              </a:solidFill>
              <a:prstDash val="solid"/>
              <a:round/>
            </a:ln>
          </p:spPr>
        </p:sp>
        <p:sp>
          <p:nvSpPr>
            <p:cNvPr name="TextBox 6" id="6"/>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6769423" y="1028700"/>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8762108"/>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518577" y="4086532"/>
            <a:ext cx="6709033" cy="699516"/>
            <a:chOff x="0" y="0"/>
            <a:chExt cx="1766988" cy="184235"/>
          </a:xfrm>
        </p:grpSpPr>
        <p:sp>
          <p:nvSpPr>
            <p:cNvPr name="Freeform 10" id="10"/>
            <p:cNvSpPr/>
            <p:nvPr/>
          </p:nvSpPr>
          <p:spPr>
            <a:xfrm flipH="false" flipV="false" rot="0">
              <a:off x="0" y="0"/>
              <a:ext cx="1766988" cy="184235"/>
            </a:xfrm>
            <a:custGeom>
              <a:avLst/>
              <a:gdLst/>
              <a:ahLst/>
              <a:cxnLst/>
              <a:rect r="r" b="b" t="t" l="l"/>
              <a:pathLst>
                <a:path h="184235" w="1766988">
                  <a:moveTo>
                    <a:pt x="92117" y="0"/>
                  </a:moveTo>
                  <a:lnTo>
                    <a:pt x="1674871" y="0"/>
                  </a:lnTo>
                  <a:cubicBezTo>
                    <a:pt x="1725746" y="0"/>
                    <a:pt x="1766988" y="41242"/>
                    <a:pt x="1766988" y="92117"/>
                  </a:cubicBezTo>
                  <a:lnTo>
                    <a:pt x="1766988" y="92117"/>
                  </a:lnTo>
                  <a:cubicBezTo>
                    <a:pt x="1766988" y="142992"/>
                    <a:pt x="1725746" y="184235"/>
                    <a:pt x="1674871" y="184235"/>
                  </a:cubicBezTo>
                  <a:lnTo>
                    <a:pt x="92117" y="184235"/>
                  </a:lnTo>
                  <a:cubicBezTo>
                    <a:pt x="41242" y="184235"/>
                    <a:pt x="0" y="142992"/>
                    <a:pt x="0" y="92117"/>
                  </a:cubicBezTo>
                  <a:lnTo>
                    <a:pt x="0" y="92117"/>
                  </a:lnTo>
                  <a:cubicBezTo>
                    <a:pt x="0" y="41242"/>
                    <a:pt x="41242" y="0"/>
                    <a:pt x="92117" y="0"/>
                  </a:cubicBezTo>
                  <a:close/>
                </a:path>
              </a:pathLst>
            </a:custGeom>
            <a:solidFill>
              <a:srgbClr val="1E8661"/>
            </a:solidFill>
          </p:spPr>
        </p:sp>
        <p:sp>
          <p:nvSpPr>
            <p:cNvPr name="TextBox 11" id="11"/>
            <p:cNvSpPr txBox="true"/>
            <p:nvPr/>
          </p:nvSpPr>
          <p:spPr>
            <a:xfrm>
              <a:off x="0" y="-57150"/>
              <a:ext cx="1766988" cy="241385"/>
            </a:xfrm>
            <a:prstGeom prst="rect">
              <a:avLst/>
            </a:prstGeom>
          </p:spPr>
          <p:txBody>
            <a:bodyPr anchor="ctr" rtlCol="false" tIns="50800" lIns="50800" bIns="50800" rIns="50800"/>
            <a:lstStyle/>
            <a:p>
              <a:pPr algn="ctr">
                <a:lnSpc>
                  <a:spcPts val="2939"/>
                </a:lnSpc>
              </a:pPr>
              <a:r>
                <a:rPr lang="en-US" sz="2099">
                  <a:solidFill>
                    <a:srgbClr val="FFFFFF"/>
                  </a:solidFill>
                  <a:latin typeface="Poppins"/>
                  <a:ea typeface="Poppins"/>
                  <a:cs typeface="Poppins"/>
                  <a:sym typeface="Poppins"/>
                </a:rPr>
                <a:t>Y</a:t>
              </a:r>
              <a:r>
                <a:rPr lang="en-US" sz="2099">
                  <a:solidFill>
                    <a:srgbClr val="FFFFFF"/>
                  </a:solidFill>
                  <a:latin typeface="Poppins"/>
                  <a:ea typeface="Poppins"/>
                  <a:cs typeface="Poppins"/>
                  <a:sym typeface="Poppins"/>
                </a:rPr>
                <a:t>ou Can't Out-Earn Your Way Out of Bad Habits</a:t>
              </a:r>
            </a:p>
          </p:txBody>
        </p:sp>
      </p:grpSp>
      <p:sp>
        <p:nvSpPr>
          <p:cNvPr name="TextBox 12" id="12"/>
          <p:cNvSpPr txBox="true"/>
          <p:nvPr/>
        </p:nvSpPr>
        <p:spPr>
          <a:xfrm rot="0">
            <a:off x="1953387" y="1419671"/>
            <a:ext cx="14381226" cy="1058409"/>
          </a:xfrm>
          <a:prstGeom prst="rect">
            <a:avLst/>
          </a:prstGeom>
        </p:spPr>
        <p:txBody>
          <a:bodyPr anchor="t" rtlCol="false" tIns="0" lIns="0" bIns="0" rIns="0">
            <a:spAutoFit/>
          </a:bodyPr>
          <a:lstStyle/>
          <a:p>
            <a:pPr algn="ctr">
              <a:lnSpc>
                <a:spcPts val="8021"/>
              </a:lnSpc>
            </a:pPr>
            <a:r>
              <a:rPr lang="en-US" b="true" sz="7941" spc="-476">
                <a:solidFill>
                  <a:srgbClr val="1E8661"/>
                </a:solidFill>
                <a:latin typeface="Cooper BT Bold"/>
                <a:ea typeface="Cooper BT Bold"/>
                <a:cs typeface="Cooper BT Bold"/>
                <a:sym typeface="Cooper BT Bold"/>
              </a:rPr>
              <a:t>The M-Pesa Gap</a:t>
            </a:r>
          </a:p>
        </p:txBody>
      </p:sp>
      <p:sp>
        <p:nvSpPr>
          <p:cNvPr name="TextBox 13" id="13"/>
          <p:cNvSpPr txBox="true"/>
          <p:nvPr/>
        </p:nvSpPr>
        <p:spPr>
          <a:xfrm rot="0">
            <a:off x="1273638" y="5221040"/>
            <a:ext cx="8889945" cy="2734311"/>
          </a:xfrm>
          <a:prstGeom prst="rect">
            <a:avLst/>
          </a:prstGeom>
        </p:spPr>
        <p:txBody>
          <a:bodyPr anchor="t" rtlCol="false" tIns="0" lIns="0" bIns="0" rIns="0">
            <a:spAutoFit/>
          </a:bodyPr>
          <a:lstStyle/>
          <a:p>
            <a:pPr algn="just" marL="561336" indent="-280668" lvl="1">
              <a:lnSpc>
                <a:spcPts val="3639"/>
              </a:lnSpc>
              <a:spcBef>
                <a:spcPct val="0"/>
              </a:spcBef>
              <a:buFont typeface="Arial"/>
              <a:buChar char="•"/>
            </a:pPr>
            <a:r>
              <a:rPr lang="en-US" b="true" sz="2599">
                <a:solidFill>
                  <a:srgbClr val="1E8661"/>
                </a:solidFill>
                <a:latin typeface="Canva Sans Bold"/>
                <a:ea typeface="Canva Sans Bold"/>
                <a:cs typeface="Canva Sans Bold"/>
                <a:sym typeface="Canva Sans Bold"/>
              </a:rPr>
              <a:t>M-P</a:t>
            </a:r>
            <a:r>
              <a:rPr lang="en-US" b="true" sz="2599">
                <a:solidFill>
                  <a:srgbClr val="1E8661"/>
                </a:solidFill>
                <a:latin typeface="Canva Sans Bold"/>
                <a:ea typeface="Canva Sans Bold"/>
                <a:cs typeface="Canva Sans Bold"/>
                <a:sym typeface="Canva Sans Bold"/>
              </a:rPr>
              <a:t>esa is fast, reliable, and widely accessible</a:t>
            </a:r>
          </a:p>
          <a:p>
            <a:pPr algn="just" marL="561336" indent="-280668" lvl="1">
              <a:lnSpc>
                <a:spcPts val="3639"/>
              </a:lnSpc>
              <a:spcBef>
                <a:spcPct val="0"/>
              </a:spcBef>
              <a:buFont typeface="Arial"/>
              <a:buChar char="•"/>
            </a:pPr>
            <a:r>
              <a:rPr lang="en-US" b="true" sz="2599">
                <a:solidFill>
                  <a:srgbClr val="1E8661"/>
                </a:solidFill>
                <a:latin typeface="Canva Sans Bold"/>
                <a:ea typeface="Canva Sans Bold"/>
                <a:cs typeface="Canva Sans Bold"/>
                <a:sym typeface="Canva Sans Bold"/>
              </a:rPr>
              <a:t>But payments are instant and irreversible</a:t>
            </a:r>
          </a:p>
          <a:p>
            <a:pPr algn="just" marL="561336" indent="-280668" lvl="1">
              <a:lnSpc>
                <a:spcPts val="3639"/>
              </a:lnSpc>
              <a:spcBef>
                <a:spcPct val="0"/>
              </a:spcBef>
              <a:buFont typeface="Arial"/>
              <a:buChar char="•"/>
            </a:pPr>
            <a:r>
              <a:rPr lang="en-US" b="true" sz="2599">
                <a:solidFill>
                  <a:srgbClr val="1E8661"/>
                </a:solidFill>
                <a:latin typeface="Canva Sans Bold"/>
                <a:ea typeface="Canva Sans Bold"/>
                <a:cs typeface="Canva Sans Bold"/>
                <a:sym typeface="Canva Sans Bold"/>
              </a:rPr>
              <a:t>No hold function. No conditional release. No recourse.</a:t>
            </a:r>
          </a:p>
          <a:p>
            <a:pPr algn="just" marL="561336" indent="-280668" lvl="1">
              <a:lnSpc>
                <a:spcPts val="3639"/>
              </a:lnSpc>
              <a:spcBef>
                <a:spcPct val="0"/>
              </a:spcBef>
              <a:buFont typeface="Arial"/>
              <a:buChar char="•"/>
            </a:pPr>
            <a:r>
              <a:rPr lang="en-US" b="true" sz="2599">
                <a:solidFill>
                  <a:srgbClr val="1E8661"/>
                </a:solidFill>
                <a:latin typeface="Canva Sans Bold"/>
                <a:ea typeface="Canva Sans Bold"/>
                <a:cs typeface="Canva Sans Bold"/>
                <a:sym typeface="Canva Sans Bold"/>
              </a:rPr>
              <a:t>Once money leaves a buyer's account — it is gone</a:t>
            </a:r>
          </a:p>
          <a:p>
            <a:pPr algn="just">
              <a:lnSpc>
                <a:spcPts val="3639"/>
              </a:lnSpc>
              <a:spcBef>
                <a:spcPct val="0"/>
              </a:spcBef>
            </a:pPr>
          </a:p>
        </p:txBody>
      </p:sp>
      <p:grpSp>
        <p:nvGrpSpPr>
          <p:cNvPr name="Group 14" id="14"/>
          <p:cNvGrpSpPr/>
          <p:nvPr/>
        </p:nvGrpSpPr>
        <p:grpSpPr>
          <a:xfrm rot="0">
            <a:off x="11667588" y="3975241"/>
            <a:ext cx="5591712" cy="5283059"/>
            <a:chOff x="0" y="0"/>
            <a:chExt cx="1472714" cy="1391423"/>
          </a:xfrm>
        </p:grpSpPr>
        <p:sp>
          <p:nvSpPr>
            <p:cNvPr name="Freeform 15" id="15"/>
            <p:cNvSpPr/>
            <p:nvPr/>
          </p:nvSpPr>
          <p:spPr>
            <a:xfrm flipH="false" flipV="false" rot="0">
              <a:off x="0" y="0"/>
              <a:ext cx="1472714" cy="1391423"/>
            </a:xfrm>
            <a:custGeom>
              <a:avLst/>
              <a:gdLst/>
              <a:ahLst/>
              <a:cxnLst/>
              <a:rect r="r" b="b" t="t" l="l"/>
              <a:pathLst>
                <a:path h="1391423" w="1472714">
                  <a:moveTo>
                    <a:pt x="138453" y="0"/>
                  </a:moveTo>
                  <a:lnTo>
                    <a:pt x="1334261" y="0"/>
                  </a:lnTo>
                  <a:cubicBezTo>
                    <a:pt x="1370981" y="0"/>
                    <a:pt x="1406197" y="14587"/>
                    <a:pt x="1432162" y="40552"/>
                  </a:cubicBezTo>
                  <a:cubicBezTo>
                    <a:pt x="1458127" y="66517"/>
                    <a:pt x="1472714" y="101733"/>
                    <a:pt x="1472714" y="138453"/>
                  </a:cubicBezTo>
                  <a:lnTo>
                    <a:pt x="1472714" y="1252970"/>
                  </a:lnTo>
                  <a:cubicBezTo>
                    <a:pt x="1472714" y="1329435"/>
                    <a:pt x="1410727" y="1391423"/>
                    <a:pt x="1334261" y="1391423"/>
                  </a:cubicBezTo>
                  <a:lnTo>
                    <a:pt x="138453" y="1391423"/>
                  </a:lnTo>
                  <a:cubicBezTo>
                    <a:pt x="61988" y="1391423"/>
                    <a:pt x="0" y="1329435"/>
                    <a:pt x="0" y="1252970"/>
                  </a:cubicBezTo>
                  <a:lnTo>
                    <a:pt x="0" y="138453"/>
                  </a:lnTo>
                  <a:cubicBezTo>
                    <a:pt x="0" y="61988"/>
                    <a:pt x="61988" y="0"/>
                    <a:pt x="138453" y="0"/>
                  </a:cubicBezTo>
                  <a:close/>
                </a:path>
              </a:pathLst>
            </a:custGeom>
            <a:solidFill>
              <a:srgbClr val="EAFFF7"/>
            </a:solidFill>
            <a:ln w="38100" cap="rnd">
              <a:solidFill>
                <a:srgbClr val="1E8661"/>
              </a:solidFill>
              <a:prstDash val="solid"/>
              <a:round/>
            </a:ln>
          </p:spPr>
        </p:sp>
        <p:sp>
          <p:nvSpPr>
            <p:cNvPr name="TextBox 16" id="16"/>
            <p:cNvSpPr txBox="true"/>
            <p:nvPr/>
          </p:nvSpPr>
          <p:spPr>
            <a:xfrm>
              <a:off x="0" y="-38100"/>
              <a:ext cx="1472714" cy="1429523"/>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flipV="true">
            <a:off x="1028700" y="3681234"/>
            <a:ext cx="16230600" cy="0"/>
          </a:xfrm>
          <a:prstGeom prst="line">
            <a:avLst/>
          </a:prstGeom>
          <a:ln cap="flat" w="38100">
            <a:solidFill>
              <a:srgbClr val="1E8661"/>
            </a:solidFill>
            <a:prstDash val="solid"/>
            <a:headEnd type="none" len="sm" w="sm"/>
            <a:tailEnd type="none" len="sm" w="sm"/>
          </a:ln>
        </p:spPr>
      </p:sp>
      <p:sp>
        <p:nvSpPr>
          <p:cNvPr name="Freeform 18" id="18"/>
          <p:cNvSpPr/>
          <p:nvPr/>
        </p:nvSpPr>
        <p:spPr>
          <a:xfrm flipH="false" flipV="false" rot="0">
            <a:off x="12004923" y="4786048"/>
            <a:ext cx="5009439" cy="3661444"/>
          </a:xfrm>
          <a:custGeom>
            <a:avLst/>
            <a:gdLst/>
            <a:ahLst/>
            <a:cxnLst/>
            <a:rect r="r" b="b" t="t" l="l"/>
            <a:pathLst>
              <a:path h="3661444" w="5009439">
                <a:moveTo>
                  <a:pt x="0" y="0"/>
                </a:moveTo>
                <a:lnTo>
                  <a:pt x="5009439" y="0"/>
                </a:lnTo>
                <a:lnTo>
                  <a:pt x="5009439" y="3661445"/>
                </a:lnTo>
                <a:lnTo>
                  <a:pt x="0" y="36614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AFFF7"/>
        </a:solidFill>
      </p:bgPr>
    </p:bg>
    <p:spTree>
      <p:nvGrpSpPr>
        <p:cNvPr id="1" name=""/>
        <p:cNvGrpSpPr/>
        <p:nvPr/>
      </p:nvGrpSpPr>
      <p:grpSpPr>
        <a:xfrm>
          <a:off x="0" y="0"/>
          <a:ext cx="0" cy="0"/>
          <a:chOff x="0" y="0"/>
          <a:chExt cx="0" cy="0"/>
        </a:xfrm>
      </p:grpSpPr>
      <p:sp>
        <p:nvSpPr>
          <p:cNvPr name="Freeform 2" id="2"/>
          <p:cNvSpPr/>
          <p:nvPr/>
        </p:nvSpPr>
        <p:spPr>
          <a:xfrm flipH="false" flipV="false" rot="0">
            <a:off x="0" y="-49109"/>
            <a:ext cx="8719917" cy="10336109"/>
          </a:xfrm>
          <a:custGeom>
            <a:avLst/>
            <a:gdLst/>
            <a:ahLst/>
            <a:cxnLst/>
            <a:rect r="r" b="b" t="t" l="l"/>
            <a:pathLst>
              <a:path h="10336109" w="8719917">
                <a:moveTo>
                  <a:pt x="0" y="0"/>
                </a:moveTo>
                <a:lnTo>
                  <a:pt x="8719917" y="0"/>
                </a:lnTo>
                <a:lnTo>
                  <a:pt x="8719917" y="10336109"/>
                </a:lnTo>
                <a:lnTo>
                  <a:pt x="0" y="1033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8083" y="-49109"/>
            <a:ext cx="8719917" cy="10336109"/>
          </a:xfrm>
          <a:custGeom>
            <a:avLst/>
            <a:gdLst/>
            <a:ahLst/>
            <a:cxnLst/>
            <a:rect r="r" b="b" t="t" l="l"/>
            <a:pathLst>
              <a:path h="10336109" w="8719917">
                <a:moveTo>
                  <a:pt x="8719917" y="0"/>
                </a:moveTo>
                <a:lnTo>
                  <a:pt x="0" y="0"/>
                </a:lnTo>
                <a:lnTo>
                  <a:pt x="0" y="10336109"/>
                </a:lnTo>
                <a:lnTo>
                  <a:pt x="8719917" y="10336109"/>
                </a:lnTo>
                <a:lnTo>
                  <a:pt x="87199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028700"/>
            <a:ext cx="16230600" cy="8229600"/>
            <a:chOff x="0" y="0"/>
            <a:chExt cx="4274726" cy="2167467"/>
          </a:xfrm>
        </p:grpSpPr>
        <p:sp>
          <p:nvSpPr>
            <p:cNvPr name="Freeform 5" id="5"/>
            <p:cNvSpPr/>
            <p:nvPr/>
          </p:nvSpPr>
          <p:spPr>
            <a:xfrm flipH="false" flipV="false" rot="0">
              <a:off x="0" y="0"/>
              <a:ext cx="4274726" cy="2167467"/>
            </a:xfrm>
            <a:custGeom>
              <a:avLst/>
              <a:gdLst/>
              <a:ahLst/>
              <a:cxnLst/>
              <a:rect r="r" b="b" t="t" l="l"/>
              <a:pathLst>
                <a:path h="2167467" w="4274726">
                  <a:moveTo>
                    <a:pt x="47700" y="0"/>
                  </a:moveTo>
                  <a:lnTo>
                    <a:pt x="4227026" y="0"/>
                  </a:lnTo>
                  <a:cubicBezTo>
                    <a:pt x="4239677" y="0"/>
                    <a:pt x="4251809" y="5025"/>
                    <a:pt x="4260755" y="13971"/>
                  </a:cubicBezTo>
                  <a:cubicBezTo>
                    <a:pt x="4269700" y="22916"/>
                    <a:pt x="4274726" y="35049"/>
                    <a:pt x="4274726" y="47700"/>
                  </a:cubicBezTo>
                  <a:lnTo>
                    <a:pt x="4274726" y="2119767"/>
                  </a:lnTo>
                  <a:cubicBezTo>
                    <a:pt x="4274726" y="2132418"/>
                    <a:pt x="4269700" y="2144550"/>
                    <a:pt x="4260755" y="2153496"/>
                  </a:cubicBezTo>
                  <a:cubicBezTo>
                    <a:pt x="4251809" y="2162441"/>
                    <a:pt x="4239677" y="2167467"/>
                    <a:pt x="4227026" y="2167467"/>
                  </a:cubicBezTo>
                  <a:lnTo>
                    <a:pt x="47700" y="2167467"/>
                  </a:lnTo>
                  <a:cubicBezTo>
                    <a:pt x="35049" y="2167467"/>
                    <a:pt x="22916" y="2162441"/>
                    <a:pt x="13971" y="2153496"/>
                  </a:cubicBezTo>
                  <a:cubicBezTo>
                    <a:pt x="5025" y="2144550"/>
                    <a:pt x="0" y="2132418"/>
                    <a:pt x="0" y="2119767"/>
                  </a:cubicBezTo>
                  <a:lnTo>
                    <a:pt x="0" y="47700"/>
                  </a:lnTo>
                  <a:cubicBezTo>
                    <a:pt x="0" y="35049"/>
                    <a:pt x="5025" y="22916"/>
                    <a:pt x="13971" y="13971"/>
                  </a:cubicBezTo>
                  <a:cubicBezTo>
                    <a:pt x="22916" y="5025"/>
                    <a:pt x="35049" y="0"/>
                    <a:pt x="47700" y="0"/>
                  </a:cubicBezTo>
                  <a:close/>
                </a:path>
              </a:pathLst>
            </a:custGeom>
            <a:solidFill>
              <a:srgbClr val="EAFFF7"/>
            </a:solidFill>
            <a:ln w="38100" cap="rnd">
              <a:solidFill>
                <a:srgbClr val="1E8661"/>
              </a:solidFill>
              <a:prstDash val="solid"/>
              <a:round/>
            </a:ln>
          </p:spPr>
        </p:sp>
        <p:sp>
          <p:nvSpPr>
            <p:cNvPr name="TextBox 6" id="6"/>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6769423" y="1028700"/>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8762108"/>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878973" y="1803712"/>
            <a:ext cx="7265027" cy="1066446"/>
          </a:xfrm>
          <a:prstGeom prst="rect">
            <a:avLst/>
          </a:prstGeom>
        </p:spPr>
        <p:txBody>
          <a:bodyPr anchor="t" rtlCol="false" tIns="0" lIns="0" bIns="0" rIns="0">
            <a:spAutoFit/>
          </a:bodyPr>
          <a:lstStyle/>
          <a:p>
            <a:pPr algn="l">
              <a:lnSpc>
                <a:spcPts val="8021"/>
              </a:lnSpc>
            </a:pPr>
            <a:r>
              <a:rPr lang="en-US" sz="7941" spc="-476" b="true">
                <a:solidFill>
                  <a:srgbClr val="1E8661"/>
                </a:solidFill>
                <a:latin typeface="Cooper BT Bold"/>
                <a:ea typeface="Cooper BT Bold"/>
                <a:cs typeface="Cooper BT Bold"/>
                <a:sym typeface="Cooper BT Bold"/>
              </a:rPr>
              <a:t>The Solution</a:t>
            </a:r>
          </a:p>
        </p:txBody>
      </p:sp>
      <p:sp>
        <p:nvSpPr>
          <p:cNvPr name="TextBox 10" id="10"/>
          <p:cNvSpPr txBox="true"/>
          <p:nvPr/>
        </p:nvSpPr>
        <p:spPr>
          <a:xfrm rot="0">
            <a:off x="1878973" y="3467735"/>
            <a:ext cx="9468851" cy="2114550"/>
          </a:xfrm>
          <a:prstGeom prst="rect">
            <a:avLst/>
          </a:prstGeom>
        </p:spPr>
        <p:txBody>
          <a:bodyPr anchor="t" rtlCol="false" tIns="0" lIns="0" bIns="0" rIns="0">
            <a:spAutoFit/>
          </a:bodyPr>
          <a:lstStyle/>
          <a:p>
            <a:pPr algn="just">
              <a:lnSpc>
                <a:spcPts val="4200"/>
              </a:lnSpc>
              <a:spcBef>
                <a:spcPct val="0"/>
              </a:spcBef>
            </a:pPr>
            <a:r>
              <a:rPr lang="en-US" b="true" sz="3000">
                <a:solidFill>
                  <a:srgbClr val="1E8661"/>
                </a:solidFill>
                <a:latin typeface="Canva Sans Bold"/>
                <a:ea typeface="Canva Sans Bold"/>
                <a:cs typeface="Canva Sans Bold"/>
                <a:sym typeface="Canva Sans Bold"/>
              </a:rPr>
              <a:t>Escr</a:t>
            </a:r>
            <a:r>
              <a:rPr lang="en-US" b="true" sz="3000">
                <a:solidFill>
                  <a:srgbClr val="1E8661"/>
                </a:solidFill>
                <a:latin typeface="Canva Sans Bold"/>
                <a:ea typeface="Canva Sans Bold"/>
                <a:cs typeface="Canva Sans Bold"/>
                <a:sym typeface="Canva Sans Bold"/>
              </a:rPr>
              <a:t>owX is not a bank, a wallet, or a payment processor. It is a conditional payment intermediary — adding a trust layer on top of M-Pesa so buyers and sellers can transact with confidence</a:t>
            </a:r>
          </a:p>
        </p:txBody>
      </p:sp>
      <p:sp>
        <p:nvSpPr>
          <p:cNvPr name="TextBox 11" id="11"/>
          <p:cNvSpPr txBox="true"/>
          <p:nvPr/>
        </p:nvSpPr>
        <p:spPr>
          <a:xfrm rot="0">
            <a:off x="1878973" y="6406575"/>
            <a:ext cx="9196578" cy="1047750"/>
          </a:xfrm>
          <a:prstGeom prst="rect">
            <a:avLst/>
          </a:prstGeom>
        </p:spPr>
        <p:txBody>
          <a:bodyPr anchor="t" rtlCol="false" tIns="0" lIns="0" bIns="0" rIns="0">
            <a:spAutoFit/>
          </a:bodyPr>
          <a:lstStyle/>
          <a:p>
            <a:pPr algn="just">
              <a:lnSpc>
                <a:spcPts val="4200"/>
              </a:lnSpc>
              <a:spcBef>
                <a:spcPct val="0"/>
              </a:spcBef>
            </a:pPr>
            <a:r>
              <a:rPr lang="en-US" b="true" sz="3000">
                <a:solidFill>
                  <a:srgbClr val="1E8661"/>
                </a:solidFill>
                <a:latin typeface="Canva Sans Bold"/>
                <a:ea typeface="Canva Sans Bold"/>
                <a:cs typeface="Canva Sans Bold"/>
                <a:sym typeface="Canva Sans Bold"/>
              </a:rPr>
              <a:t>B</a:t>
            </a:r>
            <a:r>
              <a:rPr lang="en-US" b="true" sz="3000">
                <a:solidFill>
                  <a:srgbClr val="1E8661"/>
                </a:solidFill>
                <a:latin typeface="Canva Sans Bold"/>
                <a:ea typeface="Canva Sans Bold"/>
                <a:cs typeface="Canva Sans Bold"/>
                <a:sym typeface="Canva Sans Bold"/>
              </a:rPr>
              <a:t>uyer pays → EscrowX holds → Seller delivers → Funds released</a:t>
            </a:r>
          </a:p>
        </p:txBody>
      </p:sp>
      <p:sp>
        <p:nvSpPr>
          <p:cNvPr name="AutoShape 12" id="12"/>
          <p:cNvSpPr/>
          <p:nvPr/>
        </p:nvSpPr>
        <p:spPr>
          <a:xfrm>
            <a:off x="1028700" y="3022558"/>
            <a:ext cx="16230600" cy="0"/>
          </a:xfrm>
          <a:prstGeom prst="line">
            <a:avLst/>
          </a:prstGeom>
          <a:ln cap="flat" w="38100">
            <a:solidFill>
              <a:srgbClr val="1E8661"/>
            </a:solidFill>
            <a:prstDash val="solid"/>
            <a:headEnd type="none" len="sm" w="sm"/>
            <a:tailEnd type="none" len="sm" w="sm"/>
          </a:ln>
        </p:spPr>
      </p:sp>
      <p:sp>
        <p:nvSpPr>
          <p:cNvPr name="Freeform 13" id="13"/>
          <p:cNvSpPr/>
          <p:nvPr/>
        </p:nvSpPr>
        <p:spPr>
          <a:xfrm flipH="false" flipV="false" rot="0">
            <a:off x="12664118" y="5471727"/>
            <a:ext cx="4080005" cy="3538477"/>
          </a:xfrm>
          <a:custGeom>
            <a:avLst/>
            <a:gdLst/>
            <a:ahLst/>
            <a:cxnLst/>
            <a:rect r="r" b="b" t="t" l="l"/>
            <a:pathLst>
              <a:path h="3538477" w="4080005">
                <a:moveTo>
                  <a:pt x="0" y="0"/>
                </a:moveTo>
                <a:lnTo>
                  <a:pt x="4080005" y="0"/>
                </a:lnTo>
                <a:lnTo>
                  <a:pt x="4080005" y="3538477"/>
                </a:lnTo>
                <a:lnTo>
                  <a:pt x="0" y="35384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AFFF7"/>
        </a:solidFill>
      </p:bgPr>
    </p:bg>
    <p:spTree>
      <p:nvGrpSpPr>
        <p:cNvPr id="1" name=""/>
        <p:cNvGrpSpPr/>
        <p:nvPr/>
      </p:nvGrpSpPr>
      <p:grpSpPr>
        <a:xfrm>
          <a:off x="0" y="0"/>
          <a:ext cx="0" cy="0"/>
          <a:chOff x="0" y="0"/>
          <a:chExt cx="0" cy="0"/>
        </a:xfrm>
      </p:grpSpPr>
      <p:sp>
        <p:nvSpPr>
          <p:cNvPr name="Freeform 2" id="2"/>
          <p:cNvSpPr/>
          <p:nvPr/>
        </p:nvSpPr>
        <p:spPr>
          <a:xfrm flipH="false" flipV="false" rot="0">
            <a:off x="0" y="-49109"/>
            <a:ext cx="8719917" cy="10336109"/>
          </a:xfrm>
          <a:custGeom>
            <a:avLst/>
            <a:gdLst/>
            <a:ahLst/>
            <a:cxnLst/>
            <a:rect r="r" b="b" t="t" l="l"/>
            <a:pathLst>
              <a:path h="10336109" w="8719917">
                <a:moveTo>
                  <a:pt x="0" y="0"/>
                </a:moveTo>
                <a:lnTo>
                  <a:pt x="8719917" y="0"/>
                </a:lnTo>
                <a:lnTo>
                  <a:pt x="8719917" y="10336109"/>
                </a:lnTo>
                <a:lnTo>
                  <a:pt x="0" y="1033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8083" y="-49109"/>
            <a:ext cx="8719917" cy="10336109"/>
          </a:xfrm>
          <a:custGeom>
            <a:avLst/>
            <a:gdLst/>
            <a:ahLst/>
            <a:cxnLst/>
            <a:rect r="r" b="b" t="t" l="l"/>
            <a:pathLst>
              <a:path h="10336109" w="8719917">
                <a:moveTo>
                  <a:pt x="8719917" y="0"/>
                </a:moveTo>
                <a:lnTo>
                  <a:pt x="0" y="0"/>
                </a:lnTo>
                <a:lnTo>
                  <a:pt x="0" y="10336109"/>
                </a:lnTo>
                <a:lnTo>
                  <a:pt x="8719917" y="10336109"/>
                </a:lnTo>
                <a:lnTo>
                  <a:pt x="87199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957580"/>
            <a:ext cx="16230600" cy="8229600"/>
            <a:chOff x="0" y="0"/>
            <a:chExt cx="4274726" cy="2167467"/>
          </a:xfrm>
        </p:grpSpPr>
        <p:sp>
          <p:nvSpPr>
            <p:cNvPr name="Freeform 5" id="5"/>
            <p:cNvSpPr/>
            <p:nvPr/>
          </p:nvSpPr>
          <p:spPr>
            <a:xfrm flipH="false" flipV="false" rot="0">
              <a:off x="0" y="0"/>
              <a:ext cx="4274726" cy="2167467"/>
            </a:xfrm>
            <a:custGeom>
              <a:avLst/>
              <a:gdLst/>
              <a:ahLst/>
              <a:cxnLst/>
              <a:rect r="r" b="b" t="t" l="l"/>
              <a:pathLst>
                <a:path h="2167467" w="4274726">
                  <a:moveTo>
                    <a:pt x="47700" y="0"/>
                  </a:moveTo>
                  <a:lnTo>
                    <a:pt x="4227026" y="0"/>
                  </a:lnTo>
                  <a:cubicBezTo>
                    <a:pt x="4239677" y="0"/>
                    <a:pt x="4251809" y="5025"/>
                    <a:pt x="4260755" y="13971"/>
                  </a:cubicBezTo>
                  <a:cubicBezTo>
                    <a:pt x="4269700" y="22916"/>
                    <a:pt x="4274726" y="35049"/>
                    <a:pt x="4274726" y="47700"/>
                  </a:cubicBezTo>
                  <a:lnTo>
                    <a:pt x="4274726" y="2119767"/>
                  </a:lnTo>
                  <a:cubicBezTo>
                    <a:pt x="4274726" y="2132418"/>
                    <a:pt x="4269700" y="2144550"/>
                    <a:pt x="4260755" y="2153496"/>
                  </a:cubicBezTo>
                  <a:cubicBezTo>
                    <a:pt x="4251809" y="2162441"/>
                    <a:pt x="4239677" y="2167467"/>
                    <a:pt x="4227026" y="2167467"/>
                  </a:cubicBezTo>
                  <a:lnTo>
                    <a:pt x="47700" y="2167467"/>
                  </a:lnTo>
                  <a:cubicBezTo>
                    <a:pt x="35049" y="2167467"/>
                    <a:pt x="22916" y="2162441"/>
                    <a:pt x="13971" y="2153496"/>
                  </a:cubicBezTo>
                  <a:cubicBezTo>
                    <a:pt x="5025" y="2144550"/>
                    <a:pt x="0" y="2132418"/>
                    <a:pt x="0" y="2119767"/>
                  </a:cubicBezTo>
                  <a:lnTo>
                    <a:pt x="0" y="47700"/>
                  </a:lnTo>
                  <a:cubicBezTo>
                    <a:pt x="0" y="35049"/>
                    <a:pt x="5025" y="22916"/>
                    <a:pt x="13971" y="13971"/>
                  </a:cubicBezTo>
                  <a:cubicBezTo>
                    <a:pt x="22916" y="5025"/>
                    <a:pt x="35049" y="0"/>
                    <a:pt x="47700" y="0"/>
                  </a:cubicBezTo>
                  <a:close/>
                </a:path>
              </a:pathLst>
            </a:custGeom>
            <a:solidFill>
              <a:srgbClr val="EAFFF7"/>
            </a:solidFill>
            <a:ln w="38100" cap="rnd">
              <a:solidFill>
                <a:srgbClr val="1E8661"/>
              </a:solidFill>
              <a:prstDash val="solid"/>
              <a:round/>
            </a:ln>
          </p:spPr>
        </p:sp>
        <p:sp>
          <p:nvSpPr>
            <p:cNvPr name="TextBox 6" id="6"/>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6769423" y="1028700"/>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8762108"/>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028700" y="1004146"/>
            <a:ext cx="4033709" cy="8229600"/>
            <a:chOff x="0" y="0"/>
            <a:chExt cx="1062376" cy="2167467"/>
          </a:xfrm>
        </p:grpSpPr>
        <p:sp>
          <p:nvSpPr>
            <p:cNvPr name="Freeform 10" id="10"/>
            <p:cNvSpPr/>
            <p:nvPr/>
          </p:nvSpPr>
          <p:spPr>
            <a:xfrm flipH="false" flipV="false" rot="0">
              <a:off x="0" y="0"/>
              <a:ext cx="1062376" cy="2167467"/>
            </a:xfrm>
            <a:custGeom>
              <a:avLst/>
              <a:gdLst/>
              <a:ahLst/>
              <a:cxnLst/>
              <a:rect r="r" b="b" t="t" l="l"/>
              <a:pathLst>
                <a:path h="2167467" w="1062376">
                  <a:moveTo>
                    <a:pt x="191931" y="0"/>
                  </a:moveTo>
                  <a:lnTo>
                    <a:pt x="870445" y="0"/>
                  </a:lnTo>
                  <a:cubicBezTo>
                    <a:pt x="921349" y="0"/>
                    <a:pt x="970167" y="20221"/>
                    <a:pt x="1006161" y="56215"/>
                  </a:cubicBezTo>
                  <a:cubicBezTo>
                    <a:pt x="1042155" y="92209"/>
                    <a:pt x="1062376" y="141027"/>
                    <a:pt x="1062376" y="191931"/>
                  </a:cubicBezTo>
                  <a:lnTo>
                    <a:pt x="1062376" y="1975536"/>
                  </a:lnTo>
                  <a:cubicBezTo>
                    <a:pt x="1062376" y="2081537"/>
                    <a:pt x="976446" y="2167467"/>
                    <a:pt x="870445" y="2167467"/>
                  </a:cubicBezTo>
                  <a:lnTo>
                    <a:pt x="191931" y="2167467"/>
                  </a:lnTo>
                  <a:cubicBezTo>
                    <a:pt x="85930" y="2167467"/>
                    <a:pt x="0" y="2081537"/>
                    <a:pt x="0" y="1975536"/>
                  </a:cubicBezTo>
                  <a:lnTo>
                    <a:pt x="0" y="191931"/>
                  </a:lnTo>
                  <a:cubicBezTo>
                    <a:pt x="0" y="85930"/>
                    <a:pt x="85930" y="0"/>
                    <a:pt x="191931" y="0"/>
                  </a:cubicBezTo>
                  <a:close/>
                </a:path>
              </a:pathLst>
            </a:custGeom>
            <a:solidFill>
              <a:srgbClr val="EAFFF7"/>
            </a:solidFill>
            <a:ln w="38100" cap="rnd">
              <a:solidFill>
                <a:srgbClr val="1E8661"/>
              </a:solidFill>
              <a:prstDash val="solid"/>
              <a:round/>
            </a:ln>
          </p:spPr>
        </p:sp>
        <p:sp>
          <p:nvSpPr>
            <p:cNvPr name="TextBox 11" id="11"/>
            <p:cNvSpPr txBox="true"/>
            <p:nvPr/>
          </p:nvSpPr>
          <p:spPr>
            <a:xfrm>
              <a:off x="0" y="-38100"/>
              <a:ext cx="1062376" cy="2205567"/>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648870" y="1327815"/>
            <a:ext cx="7557198" cy="1066446"/>
          </a:xfrm>
          <a:prstGeom prst="rect">
            <a:avLst/>
          </a:prstGeom>
        </p:spPr>
        <p:txBody>
          <a:bodyPr anchor="t" rtlCol="false" tIns="0" lIns="0" bIns="0" rIns="0">
            <a:spAutoFit/>
          </a:bodyPr>
          <a:lstStyle/>
          <a:p>
            <a:pPr algn="l">
              <a:lnSpc>
                <a:spcPts val="8021"/>
              </a:lnSpc>
            </a:pPr>
            <a:r>
              <a:rPr lang="en-US" sz="7941" spc="-476" b="true">
                <a:solidFill>
                  <a:srgbClr val="1E8661"/>
                </a:solidFill>
                <a:latin typeface="Cooper BT Bold"/>
                <a:ea typeface="Cooper BT Bold"/>
                <a:cs typeface="Cooper BT Bold"/>
                <a:sym typeface="Cooper BT Bold"/>
              </a:rPr>
              <a:t>How It Works</a:t>
            </a:r>
          </a:p>
        </p:txBody>
      </p:sp>
      <p:sp>
        <p:nvSpPr>
          <p:cNvPr name="Freeform 13" id="13"/>
          <p:cNvSpPr/>
          <p:nvPr/>
        </p:nvSpPr>
        <p:spPr>
          <a:xfrm flipH="false" flipV="false" rot="0">
            <a:off x="1472212" y="3153429"/>
            <a:ext cx="3256950" cy="3335796"/>
          </a:xfrm>
          <a:custGeom>
            <a:avLst/>
            <a:gdLst/>
            <a:ahLst/>
            <a:cxnLst/>
            <a:rect r="r" b="b" t="t" l="l"/>
            <a:pathLst>
              <a:path h="3335796" w="3256950">
                <a:moveTo>
                  <a:pt x="0" y="0"/>
                </a:moveTo>
                <a:lnTo>
                  <a:pt x="3256950" y="0"/>
                </a:lnTo>
                <a:lnTo>
                  <a:pt x="3256950" y="3335796"/>
                </a:lnTo>
                <a:lnTo>
                  <a:pt x="0" y="33357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5270157" y="2880036"/>
            <a:ext cx="5634681" cy="976630"/>
          </a:xfrm>
          <a:prstGeom prst="rect">
            <a:avLst/>
          </a:prstGeom>
        </p:spPr>
        <p:txBody>
          <a:bodyPr anchor="t" rtlCol="false" tIns="0" lIns="0" bIns="0" rIns="0">
            <a:spAutoFit/>
          </a:bodyPr>
          <a:lstStyle/>
          <a:p>
            <a:pPr algn="ctr">
              <a:lnSpc>
                <a:spcPts val="3920"/>
              </a:lnSpc>
              <a:spcBef>
                <a:spcPct val="0"/>
              </a:spcBef>
            </a:pPr>
            <a:r>
              <a:rPr lang="en-US" b="true" sz="2800">
                <a:solidFill>
                  <a:srgbClr val="1E8661"/>
                </a:solidFill>
                <a:latin typeface="Canva Sans Bold"/>
                <a:ea typeface="Canva Sans Bold"/>
                <a:cs typeface="Canva Sans Bold"/>
                <a:sym typeface="Canva Sans Bold"/>
              </a:rPr>
              <a:t>B</a:t>
            </a:r>
            <a:r>
              <a:rPr lang="en-US" b="true" sz="2800">
                <a:solidFill>
                  <a:srgbClr val="1E8661"/>
                </a:solidFill>
                <a:latin typeface="Canva Sans Bold"/>
                <a:ea typeface="Canva Sans Bold"/>
                <a:cs typeface="Canva Sans Bold"/>
                <a:sym typeface="Canva Sans Bold"/>
              </a:rPr>
              <a:t>uyer initiates transaction and funds escrow</a:t>
            </a:r>
          </a:p>
        </p:txBody>
      </p:sp>
      <p:sp>
        <p:nvSpPr>
          <p:cNvPr name="TextBox 15" id="15"/>
          <p:cNvSpPr txBox="true"/>
          <p:nvPr/>
        </p:nvSpPr>
        <p:spPr>
          <a:xfrm rot="0">
            <a:off x="10904838" y="4095750"/>
            <a:ext cx="5634681" cy="976630"/>
          </a:xfrm>
          <a:prstGeom prst="rect">
            <a:avLst/>
          </a:prstGeom>
        </p:spPr>
        <p:txBody>
          <a:bodyPr anchor="t" rtlCol="false" tIns="0" lIns="0" bIns="0" rIns="0">
            <a:spAutoFit/>
          </a:bodyPr>
          <a:lstStyle/>
          <a:p>
            <a:pPr algn="ctr">
              <a:lnSpc>
                <a:spcPts val="3920"/>
              </a:lnSpc>
              <a:spcBef>
                <a:spcPct val="0"/>
              </a:spcBef>
            </a:pPr>
            <a:r>
              <a:rPr lang="en-US" b="true" sz="2800">
                <a:solidFill>
                  <a:srgbClr val="1E8661"/>
                </a:solidFill>
                <a:latin typeface="Canva Sans Bold"/>
                <a:ea typeface="Canva Sans Bold"/>
                <a:cs typeface="Canva Sans Bold"/>
                <a:sym typeface="Canva Sans Bold"/>
              </a:rPr>
              <a:t>Sell</a:t>
            </a:r>
            <a:r>
              <a:rPr lang="en-US" b="true" sz="2800">
                <a:solidFill>
                  <a:srgbClr val="1E8661"/>
                </a:solidFill>
                <a:latin typeface="Canva Sans Bold"/>
                <a:ea typeface="Canva Sans Bold"/>
                <a:cs typeface="Canva Sans Bold"/>
                <a:sym typeface="Canva Sans Bold"/>
              </a:rPr>
              <a:t>er delivers product or service</a:t>
            </a:r>
          </a:p>
        </p:txBody>
      </p:sp>
      <p:sp>
        <p:nvSpPr>
          <p:cNvPr name="TextBox 16" id="16"/>
          <p:cNvSpPr txBox="true"/>
          <p:nvPr/>
        </p:nvSpPr>
        <p:spPr>
          <a:xfrm rot="0">
            <a:off x="5371729" y="5559898"/>
            <a:ext cx="5634681" cy="481330"/>
          </a:xfrm>
          <a:prstGeom prst="rect">
            <a:avLst/>
          </a:prstGeom>
        </p:spPr>
        <p:txBody>
          <a:bodyPr anchor="t" rtlCol="false" tIns="0" lIns="0" bIns="0" rIns="0">
            <a:spAutoFit/>
          </a:bodyPr>
          <a:lstStyle/>
          <a:p>
            <a:pPr algn="ctr">
              <a:lnSpc>
                <a:spcPts val="3920"/>
              </a:lnSpc>
              <a:spcBef>
                <a:spcPct val="0"/>
              </a:spcBef>
            </a:pPr>
            <a:r>
              <a:rPr lang="en-US" b="true" sz="2800">
                <a:solidFill>
                  <a:srgbClr val="1E8661"/>
                </a:solidFill>
                <a:latin typeface="Canva Sans Bold"/>
                <a:ea typeface="Canva Sans Bold"/>
                <a:cs typeface="Canva Sans Bold"/>
                <a:sym typeface="Canva Sans Bold"/>
              </a:rPr>
              <a:t>B</a:t>
            </a:r>
            <a:r>
              <a:rPr lang="en-US" b="true" sz="2800">
                <a:solidFill>
                  <a:srgbClr val="1E8661"/>
                </a:solidFill>
                <a:latin typeface="Canva Sans Bold"/>
                <a:ea typeface="Canva Sans Bold"/>
                <a:cs typeface="Canva Sans Bold"/>
                <a:sym typeface="Canva Sans Bold"/>
              </a:rPr>
              <a:t>uyer confirms receipt</a:t>
            </a:r>
          </a:p>
        </p:txBody>
      </p:sp>
      <p:sp>
        <p:nvSpPr>
          <p:cNvPr name="TextBox 17" id="17"/>
          <p:cNvSpPr txBox="true"/>
          <p:nvPr/>
        </p:nvSpPr>
        <p:spPr>
          <a:xfrm rot="0">
            <a:off x="10904838" y="6672688"/>
            <a:ext cx="5634681" cy="481330"/>
          </a:xfrm>
          <a:prstGeom prst="rect">
            <a:avLst/>
          </a:prstGeom>
        </p:spPr>
        <p:txBody>
          <a:bodyPr anchor="t" rtlCol="false" tIns="0" lIns="0" bIns="0" rIns="0">
            <a:spAutoFit/>
          </a:bodyPr>
          <a:lstStyle/>
          <a:p>
            <a:pPr algn="ctr">
              <a:lnSpc>
                <a:spcPts val="3920"/>
              </a:lnSpc>
              <a:spcBef>
                <a:spcPct val="0"/>
              </a:spcBef>
            </a:pPr>
            <a:r>
              <a:rPr lang="en-US" b="true" sz="2800">
                <a:solidFill>
                  <a:srgbClr val="1E8661"/>
                </a:solidFill>
                <a:latin typeface="Canva Sans Bold"/>
                <a:ea typeface="Canva Sans Bold"/>
                <a:cs typeface="Canva Sans Bold"/>
                <a:sym typeface="Canva Sans Bold"/>
              </a:rPr>
              <a:t>F</a:t>
            </a:r>
            <a:r>
              <a:rPr lang="en-US" b="true" sz="2800">
                <a:solidFill>
                  <a:srgbClr val="1E8661"/>
                </a:solidFill>
                <a:latin typeface="Canva Sans Bold"/>
                <a:ea typeface="Canva Sans Bold"/>
                <a:cs typeface="Canva Sans Bold"/>
                <a:sym typeface="Canva Sans Bold"/>
              </a:rPr>
              <a:t>unds are released to seller</a:t>
            </a:r>
          </a:p>
        </p:txBody>
      </p:sp>
      <p:sp>
        <p:nvSpPr>
          <p:cNvPr name="TextBox 18" id="18"/>
          <p:cNvSpPr txBox="true"/>
          <p:nvPr/>
        </p:nvSpPr>
        <p:spPr>
          <a:xfrm rot="0">
            <a:off x="5618864" y="7785478"/>
            <a:ext cx="5634681" cy="976630"/>
          </a:xfrm>
          <a:prstGeom prst="rect">
            <a:avLst/>
          </a:prstGeom>
        </p:spPr>
        <p:txBody>
          <a:bodyPr anchor="t" rtlCol="false" tIns="0" lIns="0" bIns="0" rIns="0">
            <a:spAutoFit/>
          </a:bodyPr>
          <a:lstStyle/>
          <a:p>
            <a:pPr algn="ctr">
              <a:lnSpc>
                <a:spcPts val="3920"/>
              </a:lnSpc>
              <a:spcBef>
                <a:spcPct val="0"/>
              </a:spcBef>
            </a:pPr>
            <a:r>
              <a:rPr lang="en-US" b="true" sz="2800">
                <a:solidFill>
                  <a:srgbClr val="1E8661"/>
                </a:solidFill>
                <a:latin typeface="Canva Sans Bold"/>
                <a:ea typeface="Canva Sans Bold"/>
                <a:cs typeface="Canva Sans Bold"/>
                <a:sym typeface="Canva Sans Bold"/>
              </a:rPr>
              <a:t>If disp</a:t>
            </a:r>
            <a:r>
              <a:rPr lang="en-US" b="true" sz="2800">
                <a:solidFill>
                  <a:srgbClr val="1E8661"/>
                </a:solidFill>
                <a:latin typeface="Canva Sans Bold"/>
                <a:ea typeface="Canva Sans Bold"/>
                <a:cs typeface="Canva Sans Bold"/>
                <a:sym typeface="Canva Sans Bold"/>
              </a:rPr>
              <a:t>uted — admin mediates and resolves</a:t>
            </a:r>
          </a:p>
        </p:txBody>
      </p:sp>
      <p:sp>
        <p:nvSpPr>
          <p:cNvPr name="Freeform 19" id="19"/>
          <p:cNvSpPr/>
          <p:nvPr/>
        </p:nvSpPr>
        <p:spPr>
          <a:xfrm>
            <a:off x="11368216" y="3026158"/>
            <a:ext cx="2907296" cy="830508"/>
          </a:xfrm>
          <a:custGeom>
            <a:avLst/>
            <a:gdLst/>
            <a:ahLst/>
            <a:cxnLst/>
            <a:rect r="r" b="b" t="t" l="l"/>
            <a:pathLst>
              <a:path h="830508" w="2907296">
                <a:moveTo>
                  <a:pt x="0" y="278092"/>
                </a:moveTo>
                <a:quadBezTo>
                  <a:pt x="4175644" y="-480581"/>
                  <a:pt x="2353962" y="830507"/>
                </a:quadBezTo>
              </a:path>
            </a:pathLst>
          </a:custGeom>
          <a:ln cap="flat" w="38100">
            <a:solidFill>
              <a:srgbClr val="000000"/>
            </a:solidFill>
            <a:prstDash val="solid"/>
            <a:headEnd type="none" len="sm" w="sm"/>
            <a:tailEnd type="triangle" len="med" w="lg"/>
          </a:ln>
        </p:spPr>
      </p:sp>
      <p:sp>
        <p:nvSpPr>
          <p:cNvPr name="Freeform 20" id="20"/>
          <p:cNvSpPr/>
          <p:nvPr/>
        </p:nvSpPr>
        <p:spPr>
          <a:xfrm>
            <a:off x="7838528" y="4610730"/>
            <a:ext cx="3095142" cy="930246"/>
          </a:xfrm>
          <a:custGeom>
            <a:avLst/>
            <a:gdLst/>
            <a:ahLst/>
            <a:cxnLst/>
            <a:rect r="r" b="b" t="t" l="l"/>
            <a:pathLst>
              <a:path h="930246" w="3095142">
                <a:moveTo>
                  <a:pt x="3095142" y="50704"/>
                </a:moveTo>
                <a:quadBezTo>
                  <a:pt x="-1041623" y="-217181"/>
                  <a:pt x="350542" y="930246"/>
                </a:quadBezTo>
              </a:path>
            </a:pathLst>
          </a:custGeom>
          <a:ln cap="flat" w="38100">
            <a:solidFill>
              <a:srgbClr val="000000"/>
            </a:solidFill>
            <a:prstDash val="solid"/>
            <a:headEnd type="none" len="sm" w="sm"/>
            <a:tailEnd type="triangle" len="med" w="lg"/>
          </a:ln>
        </p:spPr>
      </p:sp>
      <p:sp>
        <p:nvSpPr>
          <p:cNvPr name="Freeform 21" id="21"/>
          <p:cNvSpPr/>
          <p:nvPr/>
        </p:nvSpPr>
        <p:spPr>
          <a:xfrm>
            <a:off x="11191762" y="5869620"/>
            <a:ext cx="2671046" cy="860218"/>
          </a:xfrm>
          <a:custGeom>
            <a:avLst/>
            <a:gdLst/>
            <a:ahLst/>
            <a:cxnLst/>
            <a:rect r="r" b="b" t="t" l="l"/>
            <a:pathLst>
              <a:path h="860218" w="2671046">
                <a:moveTo>
                  <a:pt x="0" y="144869"/>
                </a:moveTo>
                <a:quadBezTo>
                  <a:pt x="3616321" y="-353014"/>
                  <a:pt x="2336515" y="860218"/>
                </a:quadBezTo>
              </a:path>
            </a:pathLst>
          </a:custGeom>
          <a:ln cap="flat" w="38100">
            <a:solidFill>
              <a:srgbClr val="000000"/>
            </a:solidFill>
            <a:prstDash val="solid"/>
            <a:headEnd type="none" len="sm" w="sm"/>
            <a:tailEnd type="triangle" len="med" w="lg"/>
          </a:ln>
        </p:spPr>
      </p:sp>
      <p:sp>
        <p:nvSpPr>
          <p:cNvPr name="Freeform 22" id="22"/>
          <p:cNvSpPr/>
          <p:nvPr/>
        </p:nvSpPr>
        <p:spPr>
          <a:xfrm>
            <a:off x="7707252" y="6976410"/>
            <a:ext cx="3184359" cy="897983"/>
          </a:xfrm>
          <a:custGeom>
            <a:avLst/>
            <a:gdLst/>
            <a:ahLst/>
            <a:cxnLst/>
            <a:rect r="r" b="b" t="t" l="l"/>
            <a:pathLst>
              <a:path h="897983" w="3184359">
                <a:moveTo>
                  <a:pt x="3184360" y="18440"/>
                </a:moveTo>
                <a:quadBezTo>
                  <a:pt x="-1183364" y="-128684"/>
                  <a:pt x="439759" y="897983"/>
                </a:quadBezTo>
              </a:path>
            </a:pathLst>
          </a:custGeom>
          <a:ln cap="flat" w="38100">
            <a:solidFill>
              <a:srgbClr val="000000"/>
            </a:solidFill>
            <a:prstDash val="solid"/>
            <a:headEnd type="none" len="sm" w="sm"/>
            <a:tailEnd type="triangle" len="med" w="lg"/>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AFFF7"/>
        </a:solidFill>
      </p:bgPr>
    </p:bg>
    <p:spTree>
      <p:nvGrpSpPr>
        <p:cNvPr id="1" name=""/>
        <p:cNvGrpSpPr/>
        <p:nvPr/>
      </p:nvGrpSpPr>
      <p:grpSpPr>
        <a:xfrm>
          <a:off x="0" y="0"/>
          <a:ext cx="0" cy="0"/>
          <a:chOff x="0" y="0"/>
          <a:chExt cx="0" cy="0"/>
        </a:xfrm>
      </p:grpSpPr>
      <p:sp>
        <p:nvSpPr>
          <p:cNvPr name="Freeform 2" id="2"/>
          <p:cNvSpPr/>
          <p:nvPr/>
        </p:nvSpPr>
        <p:spPr>
          <a:xfrm flipH="false" flipV="false" rot="0">
            <a:off x="0" y="-49109"/>
            <a:ext cx="8719917" cy="10336109"/>
          </a:xfrm>
          <a:custGeom>
            <a:avLst/>
            <a:gdLst/>
            <a:ahLst/>
            <a:cxnLst/>
            <a:rect r="r" b="b" t="t" l="l"/>
            <a:pathLst>
              <a:path h="10336109" w="8719917">
                <a:moveTo>
                  <a:pt x="0" y="0"/>
                </a:moveTo>
                <a:lnTo>
                  <a:pt x="8719917" y="0"/>
                </a:lnTo>
                <a:lnTo>
                  <a:pt x="8719917" y="10336109"/>
                </a:lnTo>
                <a:lnTo>
                  <a:pt x="0" y="1033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8083" y="-49109"/>
            <a:ext cx="8719917" cy="10336109"/>
          </a:xfrm>
          <a:custGeom>
            <a:avLst/>
            <a:gdLst/>
            <a:ahLst/>
            <a:cxnLst/>
            <a:rect r="r" b="b" t="t" l="l"/>
            <a:pathLst>
              <a:path h="10336109" w="8719917">
                <a:moveTo>
                  <a:pt x="8719917" y="0"/>
                </a:moveTo>
                <a:lnTo>
                  <a:pt x="0" y="0"/>
                </a:lnTo>
                <a:lnTo>
                  <a:pt x="0" y="10336109"/>
                </a:lnTo>
                <a:lnTo>
                  <a:pt x="8719917" y="10336109"/>
                </a:lnTo>
                <a:lnTo>
                  <a:pt x="87199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028700"/>
            <a:ext cx="16230600" cy="8229600"/>
            <a:chOff x="0" y="0"/>
            <a:chExt cx="4274726" cy="2167467"/>
          </a:xfrm>
        </p:grpSpPr>
        <p:sp>
          <p:nvSpPr>
            <p:cNvPr name="Freeform 5" id="5"/>
            <p:cNvSpPr/>
            <p:nvPr/>
          </p:nvSpPr>
          <p:spPr>
            <a:xfrm flipH="false" flipV="false" rot="0">
              <a:off x="0" y="0"/>
              <a:ext cx="4274726" cy="2167467"/>
            </a:xfrm>
            <a:custGeom>
              <a:avLst/>
              <a:gdLst/>
              <a:ahLst/>
              <a:cxnLst/>
              <a:rect r="r" b="b" t="t" l="l"/>
              <a:pathLst>
                <a:path h="2167467" w="4274726">
                  <a:moveTo>
                    <a:pt x="47700" y="0"/>
                  </a:moveTo>
                  <a:lnTo>
                    <a:pt x="4227026" y="0"/>
                  </a:lnTo>
                  <a:cubicBezTo>
                    <a:pt x="4239677" y="0"/>
                    <a:pt x="4251809" y="5025"/>
                    <a:pt x="4260755" y="13971"/>
                  </a:cubicBezTo>
                  <a:cubicBezTo>
                    <a:pt x="4269700" y="22916"/>
                    <a:pt x="4274726" y="35049"/>
                    <a:pt x="4274726" y="47700"/>
                  </a:cubicBezTo>
                  <a:lnTo>
                    <a:pt x="4274726" y="2119767"/>
                  </a:lnTo>
                  <a:cubicBezTo>
                    <a:pt x="4274726" y="2132418"/>
                    <a:pt x="4269700" y="2144550"/>
                    <a:pt x="4260755" y="2153496"/>
                  </a:cubicBezTo>
                  <a:cubicBezTo>
                    <a:pt x="4251809" y="2162441"/>
                    <a:pt x="4239677" y="2167467"/>
                    <a:pt x="4227026" y="2167467"/>
                  </a:cubicBezTo>
                  <a:lnTo>
                    <a:pt x="47700" y="2167467"/>
                  </a:lnTo>
                  <a:cubicBezTo>
                    <a:pt x="35049" y="2167467"/>
                    <a:pt x="22916" y="2162441"/>
                    <a:pt x="13971" y="2153496"/>
                  </a:cubicBezTo>
                  <a:cubicBezTo>
                    <a:pt x="5025" y="2144550"/>
                    <a:pt x="0" y="2132418"/>
                    <a:pt x="0" y="2119767"/>
                  </a:cubicBezTo>
                  <a:lnTo>
                    <a:pt x="0" y="47700"/>
                  </a:lnTo>
                  <a:cubicBezTo>
                    <a:pt x="0" y="35049"/>
                    <a:pt x="5025" y="22916"/>
                    <a:pt x="13971" y="13971"/>
                  </a:cubicBezTo>
                  <a:cubicBezTo>
                    <a:pt x="22916" y="5025"/>
                    <a:pt x="35049" y="0"/>
                    <a:pt x="47700" y="0"/>
                  </a:cubicBezTo>
                  <a:close/>
                </a:path>
              </a:pathLst>
            </a:custGeom>
            <a:solidFill>
              <a:srgbClr val="EAFFF7"/>
            </a:solidFill>
            <a:ln w="38100" cap="rnd">
              <a:solidFill>
                <a:srgbClr val="1E8661"/>
              </a:solidFill>
              <a:prstDash val="solid"/>
              <a:round/>
            </a:ln>
          </p:spPr>
        </p:sp>
        <p:sp>
          <p:nvSpPr>
            <p:cNvPr name="TextBox 6" id="6"/>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6769423" y="1028700"/>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028700" y="3600450"/>
            <a:ext cx="16230600" cy="5657850"/>
            <a:chOff x="0" y="0"/>
            <a:chExt cx="4274726" cy="1490133"/>
          </a:xfrm>
        </p:grpSpPr>
        <p:sp>
          <p:nvSpPr>
            <p:cNvPr name="Freeform 9" id="9"/>
            <p:cNvSpPr/>
            <p:nvPr/>
          </p:nvSpPr>
          <p:spPr>
            <a:xfrm flipH="false" flipV="false" rot="0">
              <a:off x="0" y="0"/>
              <a:ext cx="4274726" cy="1490133"/>
            </a:xfrm>
            <a:custGeom>
              <a:avLst/>
              <a:gdLst/>
              <a:ahLst/>
              <a:cxnLst/>
              <a:rect r="r" b="b" t="t" l="l"/>
              <a:pathLst>
                <a:path h="1490133" w="4274726">
                  <a:moveTo>
                    <a:pt x="47700" y="0"/>
                  </a:moveTo>
                  <a:lnTo>
                    <a:pt x="4227026" y="0"/>
                  </a:lnTo>
                  <a:cubicBezTo>
                    <a:pt x="4239677" y="0"/>
                    <a:pt x="4251809" y="5025"/>
                    <a:pt x="4260755" y="13971"/>
                  </a:cubicBezTo>
                  <a:cubicBezTo>
                    <a:pt x="4269700" y="22916"/>
                    <a:pt x="4274726" y="35049"/>
                    <a:pt x="4274726" y="47700"/>
                  </a:cubicBezTo>
                  <a:lnTo>
                    <a:pt x="4274726" y="1442434"/>
                  </a:lnTo>
                  <a:cubicBezTo>
                    <a:pt x="4274726" y="1455085"/>
                    <a:pt x="4269700" y="1467217"/>
                    <a:pt x="4260755" y="1476163"/>
                  </a:cubicBezTo>
                  <a:cubicBezTo>
                    <a:pt x="4251809" y="1485108"/>
                    <a:pt x="4239677" y="1490133"/>
                    <a:pt x="4227026" y="1490133"/>
                  </a:cubicBezTo>
                  <a:lnTo>
                    <a:pt x="47700" y="1490133"/>
                  </a:lnTo>
                  <a:cubicBezTo>
                    <a:pt x="35049" y="1490133"/>
                    <a:pt x="22916" y="1485108"/>
                    <a:pt x="13971" y="1476163"/>
                  </a:cubicBezTo>
                  <a:cubicBezTo>
                    <a:pt x="5025" y="1467217"/>
                    <a:pt x="0" y="1455085"/>
                    <a:pt x="0" y="1442434"/>
                  </a:cubicBezTo>
                  <a:lnTo>
                    <a:pt x="0" y="47700"/>
                  </a:lnTo>
                  <a:cubicBezTo>
                    <a:pt x="0" y="35049"/>
                    <a:pt x="5025" y="22916"/>
                    <a:pt x="13971" y="13971"/>
                  </a:cubicBezTo>
                  <a:cubicBezTo>
                    <a:pt x="22916" y="5025"/>
                    <a:pt x="35049" y="0"/>
                    <a:pt x="47700" y="0"/>
                  </a:cubicBezTo>
                  <a:close/>
                </a:path>
              </a:pathLst>
            </a:custGeom>
            <a:solidFill>
              <a:srgbClr val="EAFFF7"/>
            </a:solidFill>
            <a:ln w="38100" cap="rnd">
              <a:solidFill>
                <a:srgbClr val="1E8661"/>
              </a:solidFill>
              <a:prstDash val="solid"/>
              <a:round/>
            </a:ln>
          </p:spPr>
        </p:sp>
        <p:sp>
          <p:nvSpPr>
            <p:cNvPr name="TextBox 10" id="10"/>
            <p:cNvSpPr txBox="true"/>
            <p:nvPr/>
          </p:nvSpPr>
          <p:spPr>
            <a:xfrm>
              <a:off x="0" y="-38100"/>
              <a:ext cx="4274726" cy="152823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028700" y="8762108"/>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010885" y="1886008"/>
            <a:ext cx="14758538" cy="1071109"/>
          </a:xfrm>
          <a:prstGeom prst="rect">
            <a:avLst/>
          </a:prstGeom>
        </p:spPr>
        <p:txBody>
          <a:bodyPr anchor="t" rtlCol="false" tIns="0" lIns="0" bIns="0" rIns="0">
            <a:spAutoFit/>
          </a:bodyPr>
          <a:lstStyle/>
          <a:p>
            <a:pPr algn="ctr">
              <a:lnSpc>
                <a:spcPts val="8021"/>
              </a:lnSpc>
            </a:pPr>
            <a:r>
              <a:rPr lang="en-US" b="true" sz="7941" spc="-476">
                <a:solidFill>
                  <a:srgbClr val="1E8661"/>
                </a:solidFill>
                <a:latin typeface="Cooper BT Bold"/>
                <a:ea typeface="Cooper BT Bold"/>
                <a:cs typeface="Cooper BT Bold"/>
                <a:sym typeface="Cooper BT Bold"/>
              </a:rPr>
              <a:t>Who It's For</a:t>
            </a:r>
          </a:p>
        </p:txBody>
      </p:sp>
      <p:sp>
        <p:nvSpPr>
          <p:cNvPr name="TextBox 13" id="13"/>
          <p:cNvSpPr txBox="true"/>
          <p:nvPr/>
        </p:nvSpPr>
        <p:spPr>
          <a:xfrm rot="0">
            <a:off x="1722416" y="4010025"/>
            <a:ext cx="9117309" cy="4781550"/>
          </a:xfrm>
          <a:prstGeom prst="rect">
            <a:avLst/>
          </a:prstGeom>
        </p:spPr>
        <p:txBody>
          <a:bodyPr anchor="t" rtlCol="false" tIns="0" lIns="0" bIns="0" rIns="0">
            <a:spAutoFit/>
          </a:bodyPr>
          <a:lstStyle/>
          <a:p>
            <a:pPr algn="l" marL="647700" indent="-323850" lvl="1">
              <a:lnSpc>
                <a:spcPts val="4200"/>
              </a:lnSpc>
              <a:buAutoNum type="arabicPeriod" startAt="1"/>
            </a:pPr>
            <a:r>
              <a:rPr lang="en-US" b="true" sz="3000">
                <a:solidFill>
                  <a:srgbClr val="1E8661"/>
                </a:solidFill>
                <a:latin typeface="Canva Sans Bold"/>
                <a:ea typeface="Canva Sans Bold"/>
                <a:cs typeface="Canva Sans Bold"/>
                <a:sym typeface="Canva Sans Bold"/>
              </a:rPr>
              <a:t>Instag</a:t>
            </a:r>
            <a:r>
              <a:rPr lang="en-US" b="true" sz="3000">
                <a:solidFill>
                  <a:srgbClr val="1E8661"/>
                </a:solidFill>
                <a:latin typeface="Canva Sans Bold"/>
                <a:ea typeface="Canva Sans Bold"/>
                <a:cs typeface="Canva Sans Bold"/>
                <a:sym typeface="Canva Sans Bold"/>
              </a:rPr>
              <a:t>ram, TikTok and WhatsApp sellers transacting with unknown buyers</a:t>
            </a:r>
          </a:p>
          <a:p>
            <a:pPr algn="l" marL="647700" indent="-323850" lvl="1">
              <a:lnSpc>
                <a:spcPts val="4200"/>
              </a:lnSpc>
              <a:buAutoNum type="arabicPeriod" startAt="1"/>
            </a:pPr>
            <a:r>
              <a:rPr lang="en-US" b="true" sz="3000">
                <a:solidFill>
                  <a:srgbClr val="1E8661"/>
                </a:solidFill>
                <a:latin typeface="Canva Sans Bold"/>
                <a:ea typeface="Canva Sans Bold"/>
                <a:cs typeface="Canva Sans Bold"/>
                <a:sym typeface="Canva Sans Bold"/>
              </a:rPr>
              <a:t>Freelancers — designers, developers, content creators</a:t>
            </a:r>
          </a:p>
          <a:p>
            <a:pPr algn="l" marL="647700" indent="-323850" lvl="1">
              <a:lnSpc>
                <a:spcPts val="4200"/>
              </a:lnSpc>
              <a:buAutoNum type="arabicPeriod" startAt="1"/>
            </a:pPr>
            <a:r>
              <a:rPr lang="en-US" b="true" sz="3000">
                <a:solidFill>
                  <a:srgbClr val="1E8661"/>
                </a:solidFill>
                <a:latin typeface="Canva Sans Bold"/>
                <a:ea typeface="Canva Sans Bold"/>
                <a:cs typeface="Canva Sans Bold"/>
                <a:sym typeface="Canva Sans Bold"/>
              </a:rPr>
              <a:t>Jiji traders dealing in high-value second-hand goods</a:t>
            </a:r>
          </a:p>
          <a:p>
            <a:pPr algn="l" marL="647700" indent="-323850" lvl="1">
              <a:lnSpc>
                <a:spcPts val="4200"/>
              </a:lnSpc>
              <a:buAutoNum type="arabicPeriod" startAt="1"/>
            </a:pPr>
            <a:r>
              <a:rPr lang="en-US" b="true" sz="3000">
                <a:solidFill>
                  <a:srgbClr val="1E8661"/>
                </a:solidFill>
                <a:latin typeface="Canva Sans Bold"/>
                <a:ea typeface="Canva Sans Bold"/>
                <a:cs typeface="Canva Sans Bold"/>
                <a:sym typeface="Canva Sans Bold"/>
              </a:rPr>
              <a:t>SMEs conducting remote transactions without formal contracts</a:t>
            </a:r>
          </a:p>
          <a:p>
            <a:pPr algn="l" marL="647700" indent="-323850" lvl="1">
              <a:lnSpc>
                <a:spcPts val="4200"/>
              </a:lnSpc>
              <a:buAutoNum type="arabicPeriod" startAt="1"/>
            </a:pPr>
          </a:p>
        </p:txBody>
      </p:sp>
      <p:sp>
        <p:nvSpPr>
          <p:cNvPr name="AutoShape 14" id="14"/>
          <p:cNvSpPr/>
          <p:nvPr/>
        </p:nvSpPr>
        <p:spPr>
          <a:xfrm>
            <a:off x="12356757" y="3600450"/>
            <a:ext cx="0" cy="5657850"/>
          </a:xfrm>
          <a:prstGeom prst="line">
            <a:avLst/>
          </a:prstGeom>
          <a:ln cap="flat" w="38100">
            <a:solidFill>
              <a:srgbClr val="1E8661"/>
            </a:solidFill>
            <a:prstDash val="solid"/>
            <a:headEnd type="none" len="sm" w="sm"/>
            <a:tailEnd type="none" len="sm" w="sm"/>
          </a:ln>
        </p:spPr>
      </p:sp>
      <p:sp>
        <p:nvSpPr>
          <p:cNvPr name="Freeform 15" id="15"/>
          <p:cNvSpPr/>
          <p:nvPr/>
        </p:nvSpPr>
        <p:spPr>
          <a:xfrm flipH="false" flipV="false" rot="0">
            <a:off x="12808612" y="4707981"/>
            <a:ext cx="4205750" cy="2921084"/>
          </a:xfrm>
          <a:custGeom>
            <a:avLst/>
            <a:gdLst/>
            <a:ahLst/>
            <a:cxnLst/>
            <a:rect r="r" b="b" t="t" l="l"/>
            <a:pathLst>
              <a:path h="2921084" w="4205750">
                <a:moveTo>
                  <a:pt x="0" y="0"/>
                </a:moveTo>
                <a:lnTo>
                  <a:pt x="4205750" y="0"/>
                </a:lnTo>
                <a:lnTo>
                  <a:pt x="4205750" y="2921085"/>
                </a:lnTo>
                <a:lnTo>
                  <a:pt x="0" y="29210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AFFF7"/>
        </a:solidFill>
      </p:bgPr>
    </p:bg>
    <p:spTree>
      <p:nvGrpSpPr>
        <p:cNvPr id="1" name=""/>
        <p:cNvGrpSpPr/>
        <p:nvPr/>
      </p:nvGrpSpPr>
      <p:grpSpPr>
        <a:xfrm>
          <a:off x="0" y="0"/>
          <a:ext cx="0" cy="0"/>
          <a:chOff x="0" y="0"/>
          <a:chExt cx="0" cy="0"/>
        </a:xfrm>
      </p:grpSpPr>
      <p:sp>
        <p:nvSpPr>
          <p:cNvPr name="Freeform 2" id="2"/>
          <p:cNvSpPr/>
          <p:nvPr/>
        </p:nvSpPr>
        <p:spPr>
          <a:xfrm flipH="false" flipV="false" rot="0">
            <a:off x="0" y="-49109"/>
            <a:ext cx="8719917" cy="10336109"/>
          </a:xfrm>
          <a:custGeom>
            <a:avLst/>
            <a:gdLst/>
            <a:ahLst/>
            <a:cxnLst/>
            <a:rect r="r" b="b" t="t" l="l"/>
            <a:pathLst>
              <a:path h="10336109" w="8719917">
                <a:moveTo>
                  <a:pt x="0" y="0"/>
                </a:moveTo>
                <a:lnTo>
                  <a:pt x="8719917" y="0"/>
                </a:lnTo>
                <a:lnTo>
                  <a:pt x="8719917" y="10336109"/>
                </a:lnTo>
                <a:lnTo>
                  <a:pt x="0" y="1033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8083" y="-49109"/>
            <a:ext cx="8719917" cy="10336109"/>
          </a:xfrm>
          <a:custGeom>
            <a:avLst/>
            <a:gdLst/>
            <a:ahLst/>
            <a:cxnLst/>
            <a:rect r="r" b="b" t="t" l="l"/>
            <a:pathLst>
              <a:path h="10336109" w="8719917">
                <a:moveTo>
                  <a:pt x="8719917" y="0"/>
                </a:moveTo>
                <a:lnTo>
                  <a:pt x="0" y="0"/>
                </a:lnTo>
                <a:lnTo>
                  <a:pt x="0" y="10336109"/>
                </a:lnTo>
                <a:lnTo>
                  <a:pt x="8719917" y="10336109"/>
                </a:lnTo>
                <a:lnTo>
                  <a:pt x="87199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028700"/>
            <a:ext cx="16230600" cy="8229600"/>
            <a:chOff x="0" y="0"/>
            <a:chExt cx="4274726" cy="2167467"/>
          </a:xfrm>
        </p:grpSpPr>
        <p:sp>
          <p:nvSpPr>
            <p:cNvPr name="Freeform 5" id="5"/>
            <p:cNvSpPr/>
            <p:nvPr/>
          </p:nvSpPr>
          <p:spPr>
            <a:xfrm flipH="false" flipV="false" rot="0">
              <a:off x="0" y="0"/>
              <a:ext cx="4274726" cy="2167467"/>
            </a:xfrm>
            <a:custGeom>
              <a:avLst/>
              <a:gdLst/>
              <a:ahLst/>
              <a:cxnLst/>
              <a:rect r="r" b="b" t="t" l="l"/>
              <a:pathLst>
                <a:path h="2167467" w="4274726">
                  <a:moveTo>
                    <a:pt x="47700" y="0"/>
                  </a:moveTo>
                  <a:lnTo>
                    <a:pt x="4227026" y="0"/>
                  </a:lnTo>
                  <a:cubicBezTo>
                    <a:pt x="4239677" y="0"/>
                    <a:pt x="4251809" y="5025"/>
                    <a:pt x="4260755" y="13971"/>
                  </a:cubicBezTo>
                  <a:cubicBezTo>
                    <a:pt x="4269700" y="22916"/>
                    <a:pt x="4274726" y="35049"/>
                    <a:pt x="4274726" y="47700"/>
                  </a:cubicBezTo>
                  <a:lnTo>
                    <a:pt x="4274726" y="2119767"/>
                  </a:lnTo>
                  <a:cubicBezTo>
                    <a:pt x="4274726" y="2132418"/>
                    <a:pt x="4269700" y="2144550"/>
                    <a:pt x="4260755" y="2153496"/>
                  </a:cubicBezTo>
                  <a:cubicBezTo>
                    <a:pt x="4251809" y="2162441"/>
                    <a:pt x="4239677" y="2167467"/>
                    <a:pt x="4227026" y="2167467"/>
                  </a:cubicBezTo>
                  <a:lnTo>
                    <a:pt x="47700" y="2167467"/>
                  </a:lnTo>
                  <a:cubicBezTo>
                    <a:pt x="35049" y="2167467"/>
                    <a:pt x="22916" y="2162441"/>
                    <a:pt x="13971" y="2153496"/>
                  </a:cubicBezTo>
                  <a:cubicBezTo>
                    <a:pt x="5025" y="2144550"/>
                    <a:pt x="0" y="2132418"/>
                    <a:pt x="0" y="2119767"/>
                  </a:cubicBezTo>
                  <a:lnTo>
                    <a:pt x="0" y="47700"/>
                  </a:lnTo>
                  <a:cubicBezTo>
                    <a:pt x="0" y="35049"/>
                    <a:pt x="5025" y="22916"/>
                    <a:pt x="13971" y="13971"/>
                  </a:cubicBezTo>
                  <a:cubicBezTo>
                    <a:pt x="22916" y="5025"/>
                    <a:pt x="35049" y="0"/>
                    <a:pt x="47700" y="0"/>
                  </a:cubicBezTo>
                  <a:close/>
                </a:path>
              </a:pathLst>
            </a:custGeom>
            <a:solidFill>
              <a:srgbClr val="EAFFF7"/>
            </a:solidFill>
            <a:ln w="38100" cap="rnd">
              <a:solidFill>
                <a:srgbClr val="1E8661"/>
              </a:solidFill>
              <a:prstDash val="solid"/>
              <a:round/>
            </a:ln>
          </p:spPr>
        </p:sp>
        <p:sp>
          <p:nvSpPr>
            <p:cNvPr name="TextBox 6" id="6"/>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4360528" y="3740844"/>
            <a:ext cx="3331259" cy="3325789"/>
            <a:chOff x="0" y="0"/>
            <a:chExt cx="877369" cy="875928"/>
          </a:xfrm>
        </p:grpSpPr>
        <p:sp>
          <p:nvSpPr>
            <p:cNvPr name="Freeform 8" id="8"/>
            <p:cNvSpPr/>
            <p:nvPr/>
          </p:nvSpPr>
          <p:spPr>
            <a:xfrm flipH="false" flipV="false" rot="0">
              <a:off x="0" y="0"/>
              <a:ext cx="877369" cy="875928"/>
            </a:xfrm>
            <a:custGeom>
              <a:avLst/>
              <a:gdLst/>
              <a:ahLst/>
              <a:cxnLst/>
              <a:rect r="r" b="b" t="t" l="l"/>
              <a:pathLst>
                <a:path h="875928" w="877369">
                  <a:moveTo>
                    <a:pt x="232402" y="0"/>
                  </a:moveTo>
                  <a:lnTo>
                    <a:pt x="644966" y="0"/>
                  </a:lnTo>
                  <a:cubicBezTo>
                    <a:pt x="773318" y="0"/>
                    <a:pt x="877369" y="104050"/>
                    <a:pt x="877369" y="232402"/>
                  </a:cubicBezTo>
                  <a:lnTo>
                    <a:pt x="877369" y="643526"/>
                  </a:lnTo>
                  <a:cubicBezTo>
                    <a:pt x="877369" y="705162"/>
                    <a:pt x="852883" y="764275"/>
                    <a:pt x="809299" y="807859"/>
                  </a:cubicBezTo>
                  <a:cubicBezTo>
                    <a:pt x="765716" y="851443"/>
                    <a:pt x="706603" y="875928"/>
                    <a:pt x="644966" y="875928"/>
                  </a:cubicBezTo>
                  <a:lnTo>
                    <a:pt x="232402" y="875928"/>
                  </a:lnTo>
                  <a:cubicBezTo>
                    <a:pt x="104050" y="875928"/>
                    <a:pt x="0" y="771878"/>
                    <a:pt x="0" y="643526"/>
                  </a:cubicBezTo>
                  <a:lnTo>
                    <a:pt x="0" y="232402"/>
                  </a:lnTo>
                  <a:cubicBezTo>
                    <a:pt x="0" y="104050"/>
                    <a:pt x="104050" y="0"/>
                    <a:pt x="232402" y="0"/>
                  </a:cubicBezTo>
                  <a:close/>
                </a:path>
              </a:pathLst>
            </a:custGeom>
            <a:solidFill>
              <a:srgbClr val="EAFFF7"/>
            </a:solidFill>
            <a:ln w="38100" cap="rnd">
              <a:solidFill>
                <a:srgbClr val="1E8661"/>
              </a:solidFill>
              <a:prstDash val="solid"/>
              <a:round/>
            </a:ln>
          </p:spPr>
        </p:sp>
        <p:sp>
          <p:nvSpPr>
            <p:cNvPr name="TextBox 9" id="9"/>
            <p:cNvSpPr txBox="true"/>
            <p:nvPr/>
          </p:nvSpPr>
          <p:spPr>
            <a:xfrm>
              <a:off x="0" y="-38100"/>
              <a:ext cx="877369" cy="914028"/>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6769423" y="1028700"/>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28700" y="8762108"/>
            <a:ext cx="489877" cy="496192"/>
          </a:xfrm>
          <a:custGeom>
            <a:avLst/>
            <a:gdLst/>
            <a:ahLst/>
            <a:cxnLst/>
            <a:rect r="r" b="b" t="t" l="l"/>
            <a:pathLst>
              <a:path h="496192" w="489877">
                <a:moveTo>
                  <a:pt x="0" y="0"/>
                </a:moveTo>
                <a:lnTo>
                  <a:pt x="489877" y="0"/>
                </a:lnTo>
                <a:lnTo>
                  <a:pt x="489877" y="496192"/>
                </a:lnTo>
                <a:lnTo>
                  <a:pt x="0" y="49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737173" y="4057066"/>
            <a:ext cx="2032250" cy="2693343"/>
          </a:xfrm>
          <a:custGeom>
            <a:avLst/>
            <a:gdLst/>
            <a:ahLst/>
            <a:cxnLst/>
            <a:rect r="r" b="b" t="t" l="l"/>
            <a:pathLst>
              <a:path h="2693343" w="2032250">
                <a:moveTo>
                  <a:pt x="0" y="0"/>
                </a:moveTo>
                <a:lnTo>
                  <a:pt x="2032250" y="0"/>
                </a:lnTo>
                <a:lnTo>
                  <a:pt x="2032250" y="2693344"/>
                </a:lnTo>
                <a:lnTo>
                  <a:pt x="0" y="2693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13" id="13"/>
          <p:cNvGraphicFramePr>
            <a:graphicFrameLocks noGrp="true"/>
          </p:cNvGraphicFramePr>
          <p:nvPr/>
        </p:nvGraphicFramePr>
        <p:xfrm>
          <a:off x="1673688" y="3310759"/>
          <a:ext cx="12099241" cy="5699445"/>
        </p:xfrm>
        <a:graphic>
          <a:graphicData uri="http://schemas.openxmlformats.org/drawingml/2006/table">
            <a:tbl>
              <a:tblPr/>
              <a:tblGrid>
                <a:gridCol w="6049621"/>
                <a:gridCol w="6049621"/>
              </a:tblGrid>
              <a:tr h="1026034">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Layer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Technology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034">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Frontend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Flutter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034">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Backend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Spring Booot (Java)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034">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Database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Postgre SQL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95309">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Payment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Mpesa Daraja API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4" id="14"/>
          <p:cNvSpPr txBox="true"/>
          <p:nvPr/>
        </p:nvSpPr>
        <p:spPr>
          <a:xfrm rot="0">
            <a:off x="2010885" y="1886008"/>
            <a:ext cx="9643762" cy="1066446"/>
          </a:xfrm>
          <a:prstGeom prst="rect">
            <a:avLst/>
          </a:prstGeom>
        </p:spPr>
        <p:txBody>
          <a:bodyPr anchor="t" rtlCol="false" tIns="0" lIns="0" bIns="0" rIns="0">
            <a:spAutoFit/>
          </a:bodyPr>
          <a:lstStyle/>
          <a:p>
            <a:pPr algn="l">
              <a:lnSpc>
                <a:spcPts val="8021"/>
              </a:lnSpc>
            </a:pPr>
            <a:r>
              <a:rPr lang="en-US" sz="7941" spc="-476" b="true">
                <a:solidFill>
                  <a:srgbClr val="1E8661"/>
                </a:solidFill>
                <a:latin typeface="Cooper BT Bold"/>
                <a:ea typeface="Cooper BT Bold"/>
                <a:cs typeface="Cooper BT Bold"/>
                <a:sym typeface="Cooper BT Bold"/>
              </a:rPr>
              <a:t>System Architecture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AFFF7"/>
        </a:solidFill>
      </p:bgPr>
    </p:bg>
    <p:spTree>
      <p:nvGrpSpPr>
        <p:cNvPr id="1" name=""/>
        <p:cNvGrpSpPr/>
        <p:nvPr/>
      </p:nvGrpSpPr>
      <p:grpSpPr>
        <a:xfrm>
          <a:off x="0" y="0"/>
          <a:ext cx="0" cy="0"/>
          <a:chOff x="0" y="0"/>
          <a:chExt cx="0" cy="0"/>
        </a:xfrm>
      </p:grpSpPr>
      <p:sp>
        <p:nvSpPr>
          <p:cNvPr name="Freeform 2" id="2"/>
          <p:cNvSpPr/>
          <p:nvPr/>
        </p:nvSpPr>
        <p:spPr>
          <a:xfrm flipH="false" flipV="false" rot="0">
            <a:off x="0" y="-49109"/>
            <a:ext cx="8719917" cy="10336109"/>
          </a:xfrm>
          <a:custGeom>
            <a:avLst/>
            <a:gdLst/>
            <a:ahLst/>
            <a:cxnLst/>
            <a:rect r="r" b="b" t="t" l="l"/>
            <a:pathLst>
              <a:path h="10336109" w="8719917">
                <a:moveTo>
                  <a:pt x="0" y="0"/>
                </a:moveTo>
                <a:lnTo>
                  <a:pt x="8719917" y="0"/>
                </a:lnTo>
                <a:lnTo>
                  <a:pt x="8719917" y="10336109"/>
                </a:lnTo>
                <a:lnTo>
                  <a:pt x="0" y="1033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8083" y="-49109"/>
            <a:ext cx="8719917" cy="10336109"/>
          </a:xfrm>
          <a:custGeom>
            <a:avLst/>
            <a:gdLst/>
            <a:ahLst/>
            <a:cxnLst/>
            <a:rect r="r" b="b" t="t" l="l"/>
            <a:pathLst>
              <a:path h="10336109" w="8719917">
                <a:moveTo>
                  <a:pt x="8719917" y="0"/>
                </a:moveTo>
                <a:lnTo>
                  <a:pt x="0" y="0"/>
                </a:lnTo>
                <a:lnTo>
                  <a:pt x="0" y="10336109"/>
                </a:lnTo>
                <a:lnTo>
                  <a:pt x="8719917" y="10336109"/>
                </a:lnTo>
                <a:lnTo>
                  <a:pt x="87199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199968" y="2952077"/>
            <a:ext cx="15888063" cy="4382847"/>
            <a:chOff x="0" y="0"/>
            <a:chExt cx="4184510" cy="1154330"/>
          </a:xfrm>
        </p:grpSpPr>
        <p:sp>
          <p:nvSpPr>
            <p:cNvPr name="Freeform 5" id="5"/>
            <p:cNvSpPr/>
            <p:nvPr/>
          </p:nvSpPr>
          <p:spPr>
            <a:xfrm flipH="false" flipV="false" rot="0">
              <a:off x="0" y="0"/>
              <a:ext cx="4184510" cy="1154330"/>
            </a:xfrm>
            <a:custGeom>
              <a:avLst/>
              <a:gdLst/>
              <a:ahLst/>
              <a:cxnLst/>
              <a:rect r="r" b="b" t="t" l="l"/>
              <a:pathLst>
                <a:path h="1154330" w="4184510">
                  <a:moveTo>
                    <a:pt x="243640" y="0"/>
                  </a:moveTo>
                  <a:lnTo>
                    <a:pt x="3940871" y="0"/>
                  </a:lnTo>
                  <a:cubicBezTo>
                    <a:pt x="4005488" y="0"/>
                    <a:pt x="4067459" y="25669"/>
                    <a:pt x="4113150" y="71360"/>
                  </a:cubicBezTo>
                  <a:cubicBezTo>
                    <a:pt x="4158841" y="117052"/>
                    <a:pt x="4184510" y="179022"/>
                    <a:pt x="4184510" y="243640"/>
                  </a:cubicBezTo>
                  <a:lnTo>
                    <a:pt x="4184510" y="910690"/>
                  </a:lnTo>
                  <a:cubicBezTo>
                    <a:pt x="4184510" y="975308"/>
                    <a:pt x="4158841" y="1037278"/>
                    <a:pt x="4113150" y="1082970"/>
                  </a:cubicBezTo>
                  <a:cubicBezTo>
                    <a:pt x="4067459" y="1128661"/>
                    <a:pt x="4005488" y="1154330"/>
                    <a:pt x="3940871" y="1154330"/>
                  </a:cubicBezTo>
                  <a:lnTo>
                    <a:pt x="243640" y="1154330"/>
                  </a:lnTo>
                  <a:cubicBezTo>
                    <a:pt x="179022" y="1154330"/>
                    <a:pt x="117052" y="1128661"/>
                    <a:pt x="71360" y="1082970"/>
                  </a:cubicBezTo>
                  <a:cubicBezTo>
                    <a:pt x="25669" y="1037278"/>
                    <a:pt x="0" y="975308"/>
                    <a:pt x="0" y="910690"/>
                  </a:cubicBezTo>
                  <a:lnTo>
                    <a:pt x="0" y="243640"/>
                  </a:lnTo>
                  <a:cubicBezTo>
                    <a:pt x="0" y="179022"/>
                    <a:pt x="25669" y="117052"/>
                    <a:pt x="71360" y="71360"/>
                  </a:cubicBezTo>
                  <a:cubicBezTo>
                    <a:pt x="117052" y="25669"/>
                    <a:pt x="179022" y="0"/>
                    <a:pt x="243640" y="0"/>
                  </a:cubicBezTo>
                  <a:close/>
                </a:path>
              </a:pathLst>
            </a:custGeom>
            <a:solidFill>
              <a:srgbClr val="EAFFF7"/>
            </a:solidFill>
            <a:ln w="38100" cap="rnd">
              <a:solidFill>
                <a:srgbClr val="1E8661"/>
              </a:solidFill>
              <a:prstDash val="solid"/>
              <a:round/>
            </a:ln>
          </p:spPr>
        </p:sp>
        <p:sp>
          <p:nvSpPr>
            <p:cNvPr name="TextBox 6" id="6"/>
            <p:cNvSpPr txBox="true"/>
            <p:nvPr/>
          </p:nvSpPr>
          <p:spPr>
            <a:xfrm>
              <a:off x="0" y="-38100"/>
              <a:ext cx="4184510" cy="119243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2228828" y="3600450"/>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9663"/>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2973072" y="3600450"/>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9663"/>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771878" y="3600450"/>
            <a:ext cx="10744245" cy="3086100"/>
            <a:chOff x="0" y="0"/>
            <a:chExt cx="2829760" cy="812800"/>
          </a:xfrm>
        </p:grpSpPr>
        <p:sp>
          <p:nvSpPr>
            <p:cNvPr name="Freeform 14" id="14"/>
            <p:cNvSpPr/>
            <p:nvPr/>
          </p:nvSpPr>
          <p:spPr>
            <a:xfrm flipH="false" flipV="false" rot="0">
              <a:off x="0" y="0"/>
              <a:ext cx="2829760" cy="812800"/>
            </a:xfrm>
            <a:custGeom>
              <a:avLst/>
              <a:gdLst/>
              <a:ahLst/>
              <a:cxnLst/>
              <a:rect r="r" b="b" t="t" l="l"/>
              <a:pathLst>
                <a:path h="812800" w="2829760">
                  <a:moveTo>
                    <a:pt x="360282" y="0"/>
                  </a:moveTo>
                  <a:lnTo>
                    <a:pt x="2469478" y="0"/>
                  </a:lnTo>
                  <a:cubicBezTo>
                    <a:pt x="2565031" y="0"/>
                    <a:pt x="2656670" y="37958"/>
                    <a:pt x="2724236" y="105524"/>
                  </a:cubicBezTo>
                  <a:cubicBezTo>
                    <a:pt x="2791802" y="173090"/>
                    <a:pt x="2829760" y="264729"/>
                    <a:pt x="2829760" y="360282"/>
                  </a:cubicBezTo>
                  <a:lnTo>
                    <a:pt x="2829760" y="452518"/>
                  </a:lnTo>
                  <a:cubicBezTo>
                    <a:pt x="2829760" y="548071"/>
                    <a:pt x="2791802" y="639710"/>
                    <a:pt x="2724236" y="707276"/>
                  </a:cubicBezTo>
                  <a:cubicBezTo>
                    <a:pt x="2656670" y="774842"/>
                    <a:pt x="2565031" y="812800"/>
                    <a:pt x="2469478" y="812800"/>
                  </a:cubicBezTo>
                  <a:lnTo>
                    <a:pt x="360282" y="812800"/>
                  </a:lnTo>
                  <a:cubicBezTo>
                    <a:pt x="264729" y="812800"/>
                    <a:pt x="173090" y="774842"/>
                    <a:pt x="105524" y="707276"/>
                  </a:cubicBezTo>
                  <a:cubicBezTo>
                    <a:pt x="37958" y="639710"/>
                    <a:pt x="0" y="548071"/>
                    <a:pt x="0" y="452518"/>
                  </a:cubicBezTo>
                  <a:lnTo>
                    <a:pt x="0" y="360282"/>
                  </a:lnTo>
                  <a:cubicBezTo>
                    <a:pt x="0" y="264729"/>
                    <a:pt x="37958" y="173090"/>
                    <a:pt x="105524" y="105524"/>
                  </a:cubicBezTo>
                  <a:cubicBezTo>
                    <a:pt x="173090" y="37958"/>
                    <a:pt x="264729" y="0"/>
                    <a:pt x="360282" y="0"/>
                  </a:cubicBezTo>
                  <a:close/>
                </a:path>
              </a:pathLst>
            </a:custGeom>
            <a:solidFill>
              <a:srgbClr val="1E8661"/>
            </a:solidFill>
          </p:spPr>
        </p:sp>
        <p:sp>
          <p:nvSpPr>
            <p:cNvPr name="TextBox 15" id="15"/>
            <p:cNvSpPr txBox="true"/>
            <p:nvPr/>
          </p:nvSpPr>
          <p:spPr>
            <a:xfrm>
              <a:off x="0" y="-38100"/>
              <a:ext cx="2829760" cy="8509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2661668" y="4347421"/>
            <a:ext cx="1523411" cy="1543050"/>
          </a:xfrm>
          <a:custGeom>
            <a:avLst/>
            <a:gdLst/>
            <a:ahLst/>
            <a:cxnLst/>
            <a:rect r="r" b="b" t="t" l="l"/>
            <a:pathLst>
              <a:path h="1543050" w="1523411">
                <a:moveTo>
                  <a:pt x="0" y="0"/>
                </a:moveTo>
                <a:lnTo>
                  <a:pt x="1523412" y="0"/>
                </a:lnTo>
                <a:lnTo>
                  <a:pt x="1523412" y="1543050"/>
                </a:lnTo>
                <a:lnTo>
                  <a:pt x="0" y="154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3754417" y="4371975"/>
            <a:ext cx="1523411" cy="1543050"/>
          </a:xfrm>
          <a:custGeom>
            <a:avLst/>
            <a:gdLst/>
            <a:ahLst/>
            <a:cxnLst/>
            <a:rect r="r" b="b" t="t" l="l"/>
            <a:pathLst>
              <a:path h="1543050" w="1523411">
                <a:moveTo>
                  <a:pt x="0" y="0"/>
                </a:moveTo>
                <a:lnTo>
                  <a:pt x="1523411" y="0"/>
                </a:lnTo>
                <a:lnTo>
                  <a:pt x="1523411" y="1543050"/>
                </a:lnTo>
                <a:lnTo>
                  <a:pt x="0" y="154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6798564" y="6985165"/>
            <a:ext cx="4690872" cy="699516"/>
            <a:chOff x="0" y="0"/>
            <a:chExt cx="1235456" cy="184235"/>
          </a:xfrm>
        </p:grpSpPr>
        <p:sp>
          <p:nvSpPr>
            <p:cNvPr name="Freeform 19" id="19"/>
            <p:cNvSpPr/>
            <p:nvPr/>
          </p:nvSpPr>
          <p:spPr>
            <a:xfrm flipH="false" flipV="false" rot="0">
              <a:off x="0" y="0"/>
              <a:ext cx="1235456" cy="184235"/>
            </a:xfrm>
            <a:custGeom>
              <a:avLst/>
              <a:gdLst/>
              <a:ahLst/>
              <a:cxnLst/>
              <a:rect r="r" b="b" t="t" l="l"/>
              <a:pathLst>
                <a:path h="184235" w="1235456">
                  <a:moveTo>
                    <a:pt x="92117" y="0"/>
                  </a:moveTo>
                  <a:lnTo>
                    <a:pt x="1143339" y="0"/>
                  </a:lnTo>
                  <a:cubicBezTo>
                    <a:pt x="1194214" y="0"/>
                    <a:pt x="1235456" y="41242"/>
                    <a:pt x="1235456" y="92117"/>
                  </a:cubicBezTo>
                  <a:lnTo>
                    <a:pt x="1235456" y="92117"/>
                  </a:lnTo>
                  <a:cubicBezTo>
                    <a:pt x="1235456" y="142992"/>
                    <a:pt x="1194214" y="184235"/>
                    <a:pt x="1143339" y="184235"/>
                  </a:cubicBezTo>
                  <a:lnTo>
                    <a:pt x="92117" y="184235"/>
                  </a:lnTo>
                  <a:cubicBezTo>
                    <a:pt x="41242" y="184235"/>
                    <a:pt x="0" y="142992"/>
                    <a:pt x="0" y="92117"/>
                  </a:cubicBezTo>
                  <a:lnTo>
                    <a:pt x="0" y="92117"/>
                  </a:lnTo>
                  <a:cubicBezTo>
                    <a:pt x="0" y="41242"/>
                    <a:pt x="41242" y="0"/>
                    <a:pt x="92117" y="0"/>
                  </a:cubicBezTo>
                  <a:close/>
                </a:path>
              </a:pathLst>
            </a:custGeom>
            <a:solidFill>
              <a:srgbClr val="1E8661"/>
            </a:solidFill>
          </p:spPr>
        </p:sp>
        <p:sp>
          <p:nvSpPr>
            <p:cNvPr name="TextBox 20" id="20"/>
            <p:cNvSpPr txBox="true"/>
            <p:nvPr/>
          </p:nvSpPr>
          <p:spPr>
            <a:xfrm>
              <a:off x="0" y="-57150"/>
              <a:ext cx="1235456" cy="241385"/>
            </a:xfrm>
            <a:prstGeom prst="rect">
              <a:avLst/>
            </a:prstGeom>
          </p:spPr>
          <p:txBody>
            <a:bodyPr anchor="ctr" rtlCol="false" tIns="50800" lIns="50800" bIns="50800" rIns="50800"/>
            <a:lstStyle/>
            <a:p>
              <a:pPr algn="ctr">
                <a:lnSpc>
                  <a:spcPts val="2939"/>
                </a:lnSpc>
              </a:pPr>
              <a:r>
                <a:rPr lang="en-US" sz="2099">
                  <a:solidFill>
                    <a:srgbClr val="FFFFFF"/>
                  </a:solidFill>
                  <a:latin typeface="Poppins"/>
                  <a:ea typeface="Poppins"/>
                  <a:cs typeface="Poppins"/>
                  <a:sym typeface="Poppins"/>
                </a:rPr>
                <a:t>Financial Freedom is a Choice</a:t>
              </a:r>
            </a:p>
          </p:txBody>
        </p:sp>
      </p:grpSp>
      <p:sp>
        <p:nvSpPr>
          <p:cNvPr name="TextBox 21" id="21"/>
          <p:cNvSpPr txBox="true"/>
          <p:nvPr/>
        </p:nvSpPr>
        <p:spPr>
          <a:xfrm rot="0">
            <a:off x="3050593" y="3998202"/>
            <a:ext cx="11656727" cy="2055811"/>
          </a:xfrm>
          <a:prstGeom prst="rect">
            <a:avLst/>
          </a:prstGeom>
        </p:spPr>
        <p:txBody>
          <a:bodyPr anchor="t" rtlCol="false" tIns="0" lIns="0" bIns="0" rIns="0">
            <a:spAutoFit/>
          </a:bodyPr>
          <a:lstStyle/>
          <a:p>
            <a:pPr algn="ctr">
              <a:lnSpc>
                <a:spcPts val="16612"/>
              </a:lnSpc>
              <a:spcBef>
                <a:spcPct val="0"/>
              </a:spcBef>
            </a:pPr>
            <a:r>
              <a:rPr lang="en-US" b="true" sz="11865">
                <a:solidFill>
                  <a:srgbClr val="FFFFFF"/>
                </a:solidFill>
                <a:latin typeface="Cooper BT Bold"/>
                <a:ea typeface="Cooper BT Bold"/>
                <a:cs typeface="Cooper BT Bold"/>
                <a:sym typeface="Cooper BT Bold"/>
              </a:rPr>
              <a:t>THANKYOU</a:t>
            </a:r>
          </a:p>
        </p:txBody>
      </p:sp>
      <p:grpSp>
        <p:nvGrpSpPr>
          <p:cNvPr name="Group 22" id="22"/>
          <p:cNvGrpSpPr/>
          <p:nvPr/>
        </p:nvGrpSpPr>
        <p:grpSpPr>
          <a:xfrm rot="0">
            <a:off x="7724394" y="2605659"/>
            <a:ext cx="2674620" cy="699516"/>
            <a:chOff x="0" y="0"/>
            <a:chExt cx="704427" cy="184235"/>
          </a:xfrm>
        </p:grpSpPr>
        <p:sp>
          <p:nvSpPr>
            <p:cNvPr name="Freeform 23" id="23"/>
            <p:cNvSpPr/>
            <p:nvPr/>
          </p:nvSpPr>
          <p:spPr>
            <a:xfrm flipH="false" flipV="false" rot="0">
              <a:off x="0" y="0"/>
              <a:ext cx="704427" cy="184235"/>
            </a:xfrm>
            <a:custGeom>
              <a:avLst/>
              <a:gdLst/>
              <a:ahLst/>
              <a:cxnLst/>
              <a:rect r="r" b="b" t="t" l="l"/>
              <a:pathLst>
                <a:path h="184235" w="704427">
                  <a:moveTo>
                    <a:pt x="92117" y="0"/>
                  </a:moveTo>
                  <a:lnTo>
                    <a:pt x="612309" y="0"/>
                  </a:lnTo>
                  <a:cubicBezTo>
                    <a:pt x="636740" y="0"/>
                    <a:pt x="660171" y="9705"/>
                    <a:pt x="677446" y="26981"/>
                  </a:cubicBezTo>
                  <a:cubicBezTo>
                    <a:pt x="694722" y="44256"/>
                    <a:pt x="704427" y="67686"/>
                    <a:pt x="704427" y="92117"/>
                  </a:cubicBezTo>
                  <a:lnTo>
                    <a:pt x="704427" y="92117"/>
                  </a:lnTo>
                  <a:cubicBezTo>
                    <a:pt x="704427" y="142992"/>
                    <a:pt x="663184" y="184235"/>
                    <a:pt x="612309" y="184235"/>
                  </a:cubicBezTo>
                  <a:lnTo>
                    <a:pt x="92117" y="184235"/>
                  </a:lnTo>
                  <a:cubicBezTo>
                    <a:pt x="41242" y="184235"/>
                    <a:pt x="0" y="142992"/>
                    <a:pt x="0" y="92117"/>
                  </a:cubicBezTo>
                  <a:lnTo>
                    <a:pt x="0" y="92117"/>
                  </a:lnTo>
                  <a:cubicBezTo>
                    <a:pt x="0" y="41242"/>
                    <a:pt x="41242" y="0"/>
                    <a:pt x="92117" y="0"/>
                  </a:cubicBezTo>
                  <a:close/>
                </a:path>
              </a:pathLst>
            </a:custGeom>
            <a:solidFill>
              <a:srgbClr val="1E8661"/>
            </a:solidFill>
          </p:spPr>
        </p:sp>
        <p:sp>
          <p:nvSpPr>
            <p:cNvPr name="TextBox 24" id="24"/>
            <p:cNvSpPr txBox="true"/>
            <p:nvPr/>
          </p:nvSpPr>
          <p:spPr>
            <a:xfrm>
              <a:off x="0" y="-57150"/>
              <a:ext cx="704427" cy="241385"/>
            </a:xfrm>
            <a:prstGeom prst="rect">
              <a:avLst/>
            </a:prstGeom>
          </p:spPr>
          <p:txBody>
            <a:bodyPr anchor="ctr" rtlCol="false" tIns="50800" lIns="50800" bIns="50800" rIns="50800"/>
            <a:lstStyle/>
            <a:p>
              <a:pPr algn="ctr">
                <a:lnSpc>
                  <a:spcPts val="2939"/>
                </a:lnSpc>
              </a:pPr>
              <a:r>
                <a:rPr lang="en-US" sz="2099">
                  <a:solidFill>
                    <a:srgbClr val="FFFFFF"/>
                  </a:solidFill>
                  <a:latin typeface="Poppins"/>
                  <a:ea typeface="Poppins"/>
                  <a:cs typeface="Poppins"/>
                  <a:sym typeface="Poppins"/>
                </a:rPr>
                <a:t>Thynk Unlimited</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DAHJRTm7BJc</dc:identifier>
  <dcterms:modified xsi:type="dcterms:W3CDTF">2011-08-01T06:04:30Z</dcterms:modified>
  <cp:revision>1</cp:revision>
  <dc:title>EscrowX - A Conditional Payment Platform for Kenya's Digital Commerce Ecosystem</dc:title>
</cp:coreProperties>
</file>